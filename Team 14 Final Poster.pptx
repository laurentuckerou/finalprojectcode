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32918400" cy="219456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orient="horz" pos="192" userDrawn="1">
          <p15:clr>
            <a:srgbClr val="A4A3A4"/>
          </p15:clr>
        </p15:guide>
        <p15:guide id="3" orient="horz" pos="13440" userDrawn="1">
          <p15:clr>
            <a:srgbClr val="A4A3A4"/>
          </p15:clr>
        </p15:guide>
        <p15:guide id="4" orient="horz" userDrawn="1">
          <p15:clr>
            <a:srgbClr val="A4A3A4"/>
          </p15:clr>
        </p15:guide>
        <p15:guide id="5" pos="198" userDrawn="1">
          <p15:clr>
            <a:srgbClr val="A4A3A4"/>
          </p15:clr>
        </p15:guide>
        <p15:guide id="6" pos="2053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300F"/>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EC6F97-DA22-35E3-FD90-36043A91DFC3}" v="2" dt="2026-04-30T19:21:13.577"/>
    <p1510:client id="{A5B1116B-3E96-9993-238E-73DE152A4DEB}" v="444" dt="2026-05-01T22:24:09.008"/>
    <p1510:client id="{AD51FB77-45A9-D2AB-8DD1-E263E90ACE8F}" v="4" dt="2026-05-01T21:47:22.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 d="100"/>
          <a:sy n="19" d="100"/>
        </p:scale>
        <p:origin x="136" y="156"/>
      </p:cViewPr>
      <p:guideLst>
        <p:guide orient="horz" pos="2212"/>
        <p:guide orient="horz" pos="192"/>
        <p:guide orient="horz" pos="13440"/>
        <p:guide orient="horz"/>
        <p:guide pos="198"/>
        <p:guide pos="20538"/>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5/10/relationships/revisionInfo" Target="revisionInfo.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4756" y="4252321"/>
            <a:ext cx="7542610"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6" name="Text Placeholder 5"/>
          <p:cNvSpPr>
            <a:spLocks noGrp="1"/>
          </p:cNvSpPr>
          <p:nvPr>
            <p:ph type="body" sz="quarter" idx="11" hasCustomPrompt="1"/>
          </p:nvPr>
        </p:nvSpPr>
        <p:spPr>
          <a:xfrm>
            <a:off x="358371" y="3668358"/>
            <a:ext cx="7536656"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INTRODUCTION or ABSTRACT</a:t>
            </a:r>
          </a:p>
        </p:txBody>
      </p:sp>
      <p:sp>
        <p:nvSpPr>
          <p:cNvPr id="20" name="Text Placeholder 5"/>
          <p:cNvSpPr>
            <a:spLocks noGrp="1"/>
          </p:cNvSpPr>
          <p:nvPr>
            <p:ph type="body" sz="quarter" idx="20" hasCustomPrompt="1"/>
          </p:nvPr>
        </p:nvSpPr>
        <p:spPr>
          <a:xfrm>
            <a:off x="358369" y="9444200"/>
            <a:ext cx="7537847"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OBJECTIVES</a:t>
            </a:r>
          </a:p>
        </p:txBody>
      </p:sp>
      <p:sp>
        <p:nvSpPr>
          <p:cNvPr id="21" name="Text Placeholder 3"/>
          <p:cNvSpPr>
            <a:spLocks noGrp="1"/>
          </p:cNvSpPr>
          <p:nvPr>
            <p:ph type="body" sz="quarter" idx="21" hasCustomPrompt="1"/>
          </p:nvPr>
        </p:nvSpPr>
        <p:spPr>
          <a:xfrm>
            <a:off x="8595121" y="4252321"/>
            <a:ext cx="7536656"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2" name="Text Placeholder 5"/>
          <p:cNvSpPr>
            <a:spLocks noGrp="1"/>
          </p:cNvSpPr>
          <p:nvPr>
            <p:ph type="body" sz="quarter" idx="22" hasCustomPrompt="1"/>
          </p:nvPr>
        </p:nvSpPr>
        <p:spPr>
          <a:xfrm>
            <a:off x="8595122" y="3668358"/>
            <a:ext cx="7536656"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MATERIALS &amp; METHODS</a:t>
            </a:r>
          </a:p>
        </p:txBody>
      </p:sp>
      <p:sp>
        <p:nvSpPr>
          <p:cNvPr id="23" name="Text Placeholder 3"/>
          <p:cNvSpPr>
            <a:spLocks noGrp="1"/>
          </p:cNvSpPr>
          <p:nvPr>
            <p:ph type="body" sz="quarter" idx="23" hasCustomPrompt="1"/>
          </p:nvPr>
        </p:nvSpPr>
        <p:spPr>
          <a:xfrm>
            <a:off x="16789007" y="4252321"/>
            <a:ext cx="7536656"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4" name="Text Placeholder 5"/>
          <p:cNvSpPr>
            <a:spLocks noGrp="1"/>
          </p:cNvSpPr>
          <p:nvPr>
            <p:ph type="body" sz="quarter" idx="24" hasCustomPrompt="1"/>
          </p:nvPr>
        </p:nvSpPr>
        <p:spPr>
          <a:xfrm>
            <a:off x="16783053" y="3668358"/>
            <a:ext cx="7543800"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RESULTS</a:t>
            </a:r>
          </a:p>
        </p:txBody>
      </p:sp>
      <p:sp>
        <p:nvSpPr>
          <p:cNvPr id="25" name="Text Placeholder 5"/>
          <p:cNvSpPr>
            <a:spLocks noGrp="1"/>
          </p:cNvSpPr>
          <p:nvPr>
            <p:ph type="body" sz="quarter" idx="25" hasCustomPrompt="1"/>
          </p:nvPr>
        </p:nvSpPr>
        <p:spPr>
          <a:xfrm>
            <a:off x="25042719" y="3668358"/>
            <a:ext cx="7535264"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CONCLUSIONS</a:t>
            </a:r>
          </a:p>
        </p:txBody>
      </p:sp>
      <p:sp>
        <p:nvSpPr>
          <p:cNvPr id="26" name="Text Placeholder 3"/>
          <p:cNvSpPr>
            <a:spLocks noGrp="1"/>
          </p:cNvSpPr>
          <p:nvPr>
            <p:ph type="body" sz="quarter" idx="26" hasCustomPrompt="1"/>
          </p:nvPr>
        </p:nvSpPr>
        <p:spPr>
          <a:xfrm>
            <a:off x="25042719" y="4252321"/>
            <a:ext cx="7535264"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7" name="Text Placeholder 5"/>
          <p:cNvSpPr>
            <a:spLocks noGrp="1"/>
          </p:cNvSpPr>
          <p:nvPr>
            <p:ph type="body" sz="quarter" idx="27" hasCustomPrompt="1"/>
          </p:nvPr>
        </p:nvSpPr>
        <p:spPr>
          <a:xfrm>
            <a:off x="25042719" y="9484350"/>
            <a:ext cx="7535264"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REFERENCES</a:t>
            </a:r>
          </a:p>
        </p:txBody>
      </p:sp>
      <p:sp>
        <p:nvSpPr>
          <p:cNvPr id="28" name="Text Placeholder 3"/>
          <p:cNvSpPr>
            <a:spLocks noGrp="1"/>
          </p:cNvSpPr>
          <p:nvPr>
            <p:ph type="body" sz="quarter" idx="28" hasCustomPrompt="1"/>
          </p:nvPr>
        </p:nvSpPr>
        <p:spPr>
          <a:xfrm>
            <a:off x="25042719" y="10007601"/>
            <a:ext cx="7539038"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9" name="Text Placeholder 5"/>
          <p:cNvSpPr>
            <a:spLocks noGrp="1"/>
          </p:cNvSpPr>
          <p:nvPr>
            <p:ph type="body" sz="quarter" idx="29" hasCustomPrompt="1"/>
          </p:nvPr>
        </p:nvSpPr>
        <p:spPr>
          <a:xfrm>
            <a:off x="25042719" y="17088792"/>
            <a:ext cx="7535264"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ACKNOWLEDGEMENTS or  CONTACT</a:t>
            </a:r>
          </a:p>
        </p:txBody>
      </p:sp>
      <p:sp>
        <p:nvSpPr>
          <p:cNvPr id="30" name="Text Placeholder 3"/>
          <p:cNvSpPr>
            <a:spLocks noGrp="1"/>
          </p:cNvSpPr>
          <p:nvPr>
            <p:ph type="body" sz="quarter" idx="30" hasCustomPrompt="1"/>
          </p:nvPr>
        </p:nvSpPr>
        <p:spPr>
          <a:xfrm>
            <a:off x="25042719" y="17622297"/>
            <a:ext cx="7539038"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60" name="Text Placeholder 3"/>
          <p:cNvSpPr>
            <a:spLocks noGrp="1"/>
          </p:cNvSpPr>
          <p:nvPr>
            <p:ph type="body" sz="quarter" idx="96" hasCustomPrompt="1"/>
          </p:nvPr>
        </p:nvSpPr>
        <p:spPr>
          <a:xfrm>
            <a:off x="344756" y="9967701"/>
            <a:ext cx="7542610"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77" name="Text Placeholder 76"/>
          <p:cNvSpPr>
            <a:spLocks noGrp="1"/>
          </p:cNvSpPr>
          <p:nvPr>
            <p:ph type="body" sz="quarter" idx="150" hasCustomPrompt="1"/>
          </p:nvPr>
        </p:nvSpPr>
        <p:spPr>
          <a:xfrm>
            <a:off x="4449445" y="2085277"/>
            <a:ext cx="23999226" cy="853440"/>
          </a:xfrm>
          <a:prstGeom prst="rect">
            <a:avLst/>
          </a:prstGeom>
        </p:spPr>
        <p:txBody>
          <a:bodyPr>
            <a:normAutofit/>
          </a:bodyPr>
          <a:lstStyle>
            <a:lvl1pPr marL="0" indent="0" algn="ctr">
              <a:buFontTx/>
              <a:buNone/>
              <a:defRPr sz="3600">
                <a:solidFill>
                  <a:schemeClr val="bg1"/>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affiliations</a:t>
            </a:r>
          </a:p>
        </p:txBody>
      </p:sp>
      <p:sp>
        <p:nvSpPr>
          <p:cNvPr id="78" name="Text Placeholder 76"/>
          <p:cNvSpPr>
            <a:spLocks noGrp="1"/>
          </p:cNvSpPr>
          <p:nvPr>
            <p:ph type="body" sz="quarter" idx="151" hasCustomPrompt="1"/>
          </p:nvPr>
        </p:nvSpPr>
        <p:spPr>
          <a:xfrm>
            <a:off x="4449445" y="1231837"/>
            <a:ext cx="23999226" cy="853440"/>
          </a:xfrm>
          <a:prstGeom prst="rect">
            <a:avLst/>
          </a:prstGeom>
        </p:spPr>
        <p:txBody>
          <a:bodyPr anchor="t" anchorCtr="1">
            <a:normAutofit/>
          </a:bodyPr>
          <a:lstStyle>
            <a:lvl1pPr marL="0" indent="0" algn="ctr">
              <a:buFontTx/>
              <a:buNone/>
              <a:defRPr sz="5334">
                <a:solidFill>
                  <a:schemeClr val="bg1"/>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authors</a:t>
            </a:r>
          </a:p>
        </p:txBody>
      </p:sp>
      <p:sp>
        <p:nvSpPr>
          <p:cNvPr id="79" name="Text Placeholder 76"/>
          <p:cNvSpPr>
            <a:spLocks noGrp="1"/>
          </p:cNvSpPr>
          <p:nvPr>
            <p:ph type="body" sz="quarter" idx="153" hasCustomPrompt="1"/>
          </p:nvPr>
        </p:nvSpPr>
        <p:spPr>
          <a:xfrm>
            <a:off x="4449445" y="139854"/>
            <a:ext cx="23999226" cy="1091982"/>
          </a:xfrm>
          <a:prstGeom prst="rect">
            <a:avLst/>
          </a:prstGeom>
        </p:spPr>
        <p:txBody>
          <a:bodyPr anchor="t" anchorCtr="1">
            <a:normAutofit/>
          </a:bodyPr>
          <a:lstStyle>
            <a:lvl1pPr marL="0" indent="0" algn="ctr">
              <a:buFontTx/>
              <a:buNone/>
              <a:defRPr sz="6400" b="1">
                <a:solidFill>
                  <a:schemeClr val="bg1"/>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4756" y="4252321"/>
            <a:ext cx="7542610"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6" name="Text Placeholder 5"/>
          <p:cNvSpPr>
            <a:spLocks noGrp="1"/>
          </p:cNvSpPr>
          <p:nvPr>
            <p:ph type="body" sz="quarter" idx="11" hasCustomPrompt="1"/>
          </p:nvPr>
        </p:nvSpPr>
        <p:spPr>
          <a:xfrm>
            <a:off x="358371" y="3668358"/>
            <a:ext cx="7536656"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INTRODUCTION or ABSTRACT</a:t>
            </a:r>
          </a:p>
        </p:txBody>
      </p:sp>
      <p:sp>
        <p:nvSpPr>
          <p:cNvPr id="20" name="Text Placeholder 5"/>
          <p:cNvSpPr>
            <a:spLocks noGrp="1"/>
          </p:cNvSpPr>
          <p:nvPr>
            <p:ph type="body" sz="quarter" idx="20" hasCustomPrompt="1"/>
          </p:nvPr>
        </p:nvSpPr>
        <p:spPr>
          <a:xfrm>
            <a:off x="358369" y="9444200"/>
            <a:ext cx="7537847"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OBJECTIVES</a:t>
            </a:r>
          </a:p>
        </p:txBody>
      </p:sp>
      <p:sp>
        <p:nvSpPr>
          <p:cNvPr id="21" name="Text Placeholder 3"/>
          <p:cNvSpPr>
            <a:spLocks noGrp="1"/>
          </p:cNvSpPr>
          <p:nvPr>
            <p:ph type="body" sz="quarter" idx="21" hasCustomPrompt="1"/>
          </p:nvPr>
        </p:nvSpPr>
        <p:spPr>
          <a:xfrm>
            <a:off x="8595121" y="4252321"/>
            <a:ext cx="7536656"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2" name="Text Placeholder 5"/>
          <p:cNvSpPr>
            <a:spLocks noGrp="1"/>
          </p:cNvSpPr>
          <p:nvPr>
            <p:ph type="body" sz="quarter" idx="22" hasCustomPrompt="1"/>
          </p:nvPr>
        </p:nvSpPr>
        <p:spPr>
          <a:xfrm>
            <a:off x="8595122" y="3668358"/>
            <a:ext cx="7536656"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MATERIALS &amp; METHODS</a:t>
            </a:r>
          </a:p>
        </p:txBody>
      </p:sp>
      <p:sp>
        <p:nvSpPr>
          <p:cNvPr id="23" name="Text Placeholder 3"/>
          <p:cNvSpPr>
            <a:spLocks noGrp="1"/>
          </p:cNvSpPr>
          <p:nvPr>
            <p:ph type="body" sz="quarter" idx="23" hasCustomPrompt="1"/>
          </p:nvPr>
        </p:nvSpPr>
        <p:spPr>
          <a:xfrm>
            <a:off x="16789007" y="4252321"/>
            <a:ext cx="7536656"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4" name="Text Placeholder 5"/>
          <p:cNvSpPr>
            <a:spLocks noGrp="1"/>
          </p:cNvSpPr>
          <p:nvPr>
            <p:ph type="body" sz="quarter" idx="24" hasCustomPrompt="1"/>
          </p:nvPr>
        </p:nvSpPr>
        <p:spPr>
          <a:xfrm>
            <a:off x="16783053" y="3668358"/>
            <a:ext cx="7543800"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RESULTS</a:t>
            </a:r>
          </a:p>
        </p:txBody>
      </p:sp>
      <p:sp>
        <p:nvSpPr>
          <p:cNvPr id="25" name="Text Placeholder 5"/>
          <p:cNvSpPr>
            <a:spLocks noGrp="1"/>
          </p:cNvSpPr>
          <p:nvPr>
            <p:ph type="body" sz="quarter" idx="25" hasCustomPrompt="1"/>
          </p:nvPr>
        </p:nvSpPr>
        <p:spPr>
          <a:xfrm>
            <a:off x="25042719" y="3668358"/>
            <a:ext cx="7535264"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CONCLUSIONS</a:t>
            </a:r>
          </a:p>
        </p:txBody>
      </p:sp>
      <p:sp>
        <p:nvSpPr>
          <p:cNvPr id="26" name="Text Placeholder 3"/>
          <p:cNvSpPr>
            <a:spLocks noGrp="1"/>
          </p:cNvSpPr>
          <p:nvPr>
            <p:ph type="body" sz="quarter" idx="26" hasCustomPrompt="1"/>
          </p:nvPr>
        </p:nvSpPr>
        <p:spPr>
          <a:xfrm>
            <a:off x="25042719" y="4252321"/>
            <a:ext cx="7535264"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7" name="Text Placeholder 5"/>
          <p:cNvSpPr>
            <a:spLocks noGrp="1"/>
          </p:cNvSpPr>
          <p:nvPr>
            <p:ph type="body" sz="quarter" idx="27" hasCustomPrompt="1"/>
          </p:nvPr>
        </p:nvSpPr>
        <p:spPr>
          <a:xfrm>
            <a:off x="25042719" y="9484350"/>
            <a:ext cx="7535264"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REFERENCES</a:t>
            </a:r>
          </a:p>
        </p:txBody>
      </p:sp>
      <p:sp>
        <p:nvSpPr>
          <p:cNvPr id="28" name="Text Placeholder 3"/>
          <p:cNvSpPr>
            <a:spLocks noGrp="1"/>
          </p:cNvSpPr>
          <p:nvPr>
            <p:ph type="body" sz="quarter" idx="28" hasCustomPrompt="1"/>
          </p:nvPr>
        </p:nvSpPr>
        <p:spPr>
          <a:xfrm>
            <a:off x="25042719" y="10007601"/>
            <a:ext cx="7539038"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9" name="Text Placeholder 5"/>
          <p:cNvSpPr>
            <a:spLocks noGrp="1"/>
          </p:cNvSpPr>
          <p:nvPr>
            <p:ph type="body" sz="quarter" idx="29" hasCustomPrompt="1"/>
          </p:nvPr>
        </p:nvSpPr>
        <p:spPr>
          <a:xfrm>
            <a:off x="25042719" y="17088792"/>
            <a:ext cx="7535264" cy="564314"/>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2467" b="1" u="sng" baseline="0">
                <a:solidFill>
                  <a:schemeClr val="accent1"/>
                </a:solidFill>
              </a:defRPr>
            </a:lvl1pPr>
          </a:lstStyle>
          <a:p>
            <a:pPr lvl="0"/>
            <a:r>
              <a:rPr lang="en-US"/>
              <a:t>(click to edit)  ACKNOWLEDGEMENTS or  CONTACT</a:t>
            </a:r>
          </a:p>
        </p:txBody>
      </p:sp>
      <p:sp>
        <p:nvSpPr>
          <p:cNvPr id="30" name="Text Placeholder 3"/>
          <p:cNvSpPr>
            <a:spLocks noGrp="1"/>
          </p:cNvSpPr>
          <p:nvPr>
            <p:ph type="body" sz="quarter" idx="30" hasCustomPrompt="1"/>
          </p:nvPr>
        </p:nvSpPr>
        <p:spPr>
          <a:xfrm>
            <a:off x="25042719" y="17622297"/>
            <a:ext cx="7539038"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60" name="Text Placeholder 3"/>
          <p:cNvSpPr>
            <a:spLocks noGrp="1"/>
          </p:cNvSpPr>
          <p:nvPr>
            <p:ph type="body" sz="quarter" idx="96" hasCustomPrompt="1"/>
          </p:nvPr>
        </p:nvSpPr>
        <p:spPr>
          <a:xfrm>
            <a:off x="344756" y="9967701"/>
            <a:ext cx="7542610"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77" name="Text Placeholder 76"/>
          <p:cNvSpPr>
            <a:spLocks noGrp="1"/>
          </p:cNvSpPr>
          <p:nvPr>
            <p:ph type="body" sz="quarter" idx="150" hasCustomPrompt="1"/>
          </p:nvPr>
        </p:nvSpPr>
        <p:spPr>
          <a:xfrm>
            <a:off x="4449445" y="2085277"/>
            <a:ext cx="23999226" cy="853440"/>
          </a:xfrm>
          <a:prstGeom prst="rect">
            <a:avLst/>
          </a:prstGeom>
        </p:spPr>
        <p:txBody>
          <a:bodyPr>
            <a:normAutofit/>
          </a:bodyPr>
          <a:lstStyle>
            <a:lvl1pPr marL="0" indent="0" algn="ctr">
              <a:buFontTx/>
              <a:buNone/>
              <a:defRPr sz="3600">
                <a:solidFill>
                  <a:schemeClr val="bg1"/>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affiliations</a:t>
            </a:r>
          </a:p>
        </p:txBody>
      </p:sp>
      <p:sp>
        <p:nvSpPr>
          <p:cNvPr id="78" name="Text Placeholder 76"/>
          <p:cNvSpPr>
            <a:spLocks noGrp="1"/>
          </p:cNvSpPr>
          <p:nvPr>
            <p:ph type="body" sz="quarter" idx="151" hasCustomPrompt="1"/>
          </p:nvPr>
        </p:nvSpPr>
        <p:spPr>
          <a:xfrm>
            <a:off x="4449445" y="1231837"/>
            <a:ext cx="23999226" cy="853440"/>
          </a:xfrm>
          <a:prstGeom prst="rect">
            <a:avLst/>
          </a:prstGeom>
        </p:spPr>
        <p:txBody>
          <a:bodyPr anchor="t" anchorCtr="1">
            <a:normAutofit/>
          </a:bodyPr>
          <a:lstStyle>
            <a:lvl1pPr marL="0" indent="0" algn="ctr">
              <a:buFontTx/>
              <a:buNone/>
              <a:defRPr sz="5334">
                <a:solidFill>
                  <a:schemeClr val="bg1"/>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authors</a:t>
            </a:r>
          </a:p>
        </p:txBody>
      </p:sp>
      <p:sp>
        <p:nvSpPr>
          <p:cNvPr id="79" name="Text Placeholder 76"/>
          <p:cNvSpPr>
            <a:spLocks noGrp="1"/>
          </p:cNvSpPr>
          <p:nvPr>
            <p:ph type="body" sz="quarter" idx="153" hasCustomPrompt="1"/>
          </p:nvPr>
        </p:nvSpPr>
        <p:spPr>
          <a:xfrm>
            <a:off x="4449445" y="139854"/>
            <a:ext cx="23999226" cy="1091982"/>
          </a:xfrm>
          <a:prstGeom prst="rect">
            <a:avLst/>
          </a:prstGeom>
        </p:spPr>
        <p:txBody>
          <a:bodyPr anchor="t" anchorCtr="1">
            <a:normAutofit/>
          </a:bodyPr>
          <a:lstStyle>
            <a:lvl1pPr marL="0" indent="0" algn="ctr">
              <a:buFontTx/>
              <a:buNone/>
              <a:defRPr sz="6400" b="1">
                <a:solidFill>
                  <a:schemeClr val="bg1"/>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title</a:t>
            </a:r>
          </a:p>
        </p:txBody>
      </p:sp>
    </p:spTree>
    <p:extLst>
      <p:ext uri="{BB962C8B-B14F-4D97-AF65-F5344CB8AC3E}">
        <p14:creationId xmlns:p14="http://schemas.microsoft.com/office/powerpoint/2010/main" val="2410963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44756" y="4252321"/>
            <a:ext cx="7542610"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6" name="Text Placeholder 5"/>
          <p:cNvSpPr>
            <a:spLocks noGrp="1"/>
          </p:cNvSpPr>
          <p:nvPr>
            <p:ph type="body" sz="quarter" idx="11" hasCustomPrompt="1"/>
          </p:nvPr>
        </p:nvSpPr>
        <p:spPr>
          <a:xfrm>
            <a:off x="358371" y="3668358"/>
            <a:ext cx="7536656"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INTRODUCTION or ABSTRACT</a:t>
            </a:r>
          </a:p>
        </p:txBody>
      </p:sp>
      <p:sp>
        <p:nvSpPr>
          <p:cNvPr id="20" name="Text Placeholder 5"/>
          <p:cNvSpPr>
            <a:spLocks noGrp="1"/>
          </p:cNvSpPr>
          <p:nvPr>
            <p:ph type="body" sz="quarter" idx="20" hasCustomPrompt="1"/>
          </p:nvPr>
        </p:nvSpPr>
        <p:spPr>
          <a:xfrm>
            <a:off x="358369" y="9444200"/>
            <a:ext cx="7537847"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OBJECTIVES</a:t>
            </a:r>
          </a:p>
        </p:txBody>
      </p:sp>
      <p:sp>
        <p:nvSpPr>
          <p:cNvPr id="21" name="Text Placeholder 3"/>
          <p:cNvSpPr>
            <a:spLocks noGrp="1"/>
          </p:cNvSpPr>
          <p:nvPr>
            <p:ph type="body" sz="quarter" idx="21" hasCustomPrompt="1"/>
          </p:nvPr>
        </p:nvSpPr>
        <p:spPr>
          <a:xfrm>
            <a:off x="8595121" y="4252321"/>
            <a:ext cx="7536656"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2" name="Text Placeholder 5"/>
          <p:cNvSpPr>
            <a:spLocks noGrp="1"/>
          </p:cNvSpPr>
          <p:nvPr>
            <p:ph type="body" sz="quarter" idx="22" hasCustomPrompt="1"/>
          </p:nvPr>
        </p:nvSpPr>
        <p:spPr>
          <a:xfrm>
            <a:off x="8595122" y="3668358"/>
            <a:ext cx="7536656"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MATERIALS &amp; METHODS</a:t>
            </a:r>
          </a:p>
        </p:txBody>
      </p:sp>
      <p:sp>
        <p:nvSpPr>
          <p:cNvPr id="23" name="Text Placeholder 3"/>
          <p:cNvSpPr>
            <a:spLocks noGrp="1"/>
          </p:cNvSpPr>
          <p:nvPr>
            <p:ph type="body" sz="quarter" idx="23" hasCustomPrompt="1"/>
          </p:nvPr>
        </p:nvSpPr>
        <p:spPr>
          <a:xfrm>
            <a:off x="16789007" y="4252321"/>
            <a:ext cx="7536656"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4" name="Text Placeholder 5"/>
          <p:cNvSpPr>
            <a:spLocks noGrp="1"/>
          </p:cNvSpPr>
          <p:nvPr>
            <p:ph type="body" sz="quarter" idx="24" hasCustomPrompt="1"/>
          </p:nvPr>
        </p:nvSpPr>
        <p:spPr>
          <a:xfrm>
            <a:off x="16783053" y="3668358"/>
            <a:ext cx="7543800"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RESULTS</a:t>
            </a:r>
          </a:p>
        </p:txBody>
      </p:sp>
      <p:sp>
        <p:nvSpPr>
          <p:cNvPr id="25" name="Text Placeholder 5"/>
          <p:cNvSpPr>
            <a:spLocks noGrp="1"/>
          </p:cNvSpPr>
          <p:nvPr>
            <p:ph type="body" sz="quarter" idx="25" hasCustomPrompt="1"/>
          </p:nvPr>
        </p:nvSpPr>
        <p:spPr>
          <a:xfrm>
            <a:off x="25042719" y="3668358"/>
            <a:ext cx="7535264"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CONCLUSIONS</a:t>
            </a:r>
          </a:p>
        </p:txBody>
      </p:sp>
      <p:sp>
        <p:nvSpPr>
          <p:cNvPr id="26" name="Text Placeholder 3"/>
          <p:cNvSpPr>
            <a:spLocks noGrp="1"/>
          </p:cNvSpPr>
          <p:nvPr>
            <p:ph type="body" sz="quarter" idx="26" hasCustomPrompt="1"/>
          </p:nvPr>
        </p:nvSpPr>
        <p:spPr>
          <a:xfrm>
            <a:off x="25042719" y="4252321"/>
            <a:ext cx="7535264"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7" name="Text Placeholder 5"/>
          <p:cNvSpPr>
            <a:spLocks noGrp="1"/>
          </p:cNvSpPr>
          <p:nvPr>
            <p:ph type="body" sz="quarter" idx="27" hasCustomPrompt="1"/>
          </p:nvPr>
        </p:nvSpPr>
        <p:spPr>
          <a:xfrm>
            <a:off x="25042719" y="9484350"/>
            <a:ext cx="7535264"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REFERENCES</a:t>
            </a:r>
          </a:p>
        </p:txBody>
      </p:sp>
      <p:sp>
        <p:nvSpPr>
          <p:cNvPr id="28" name="Text Placeholder 3"/>
          <p:cNvSpPr>
            <a:spLocks noGrp="1"/>
          </p:cNvSpPr>
          <p:nvPr>
            <p:ph type="body" sz="quarter" idx="28" hasCustomPrompt="1"/>
          </p:nvPr>
        </p:nvSpPr>
        <p:spPr>
          <a:xfrm>
            <a:off x="25042719" y="10007601"/>
            <a:ext cx="7539038"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29" name="Text Placeholder 5"/>
          <p:cNvSpPr>
            <a:spLocks noGrp="1"/>
          </p:cNvSpPr>
          <p:nvPr>
            <p:ph type="body" sz="quarter" idx="29" hasCustomPrompt="1"/>
          </p:nvPr>
        </p:nvSpPr>
        <p:spPr>
          <a:xfrm>
            <a:off x="25042719" y="17088792"/>
            <a:ext cx="7535264" cy="564314"/>
          </a:xfrm>
          <a:prstGeom prst="rect">
            <a:avLst/>
          </a:prstGeom>
          <a:noFill/>
        </p:spPr>
        <p:txBody>
          <a:bodyPr wrap="square" lIns="91436" tIns="91436" rIns="91436" bIns="91436" anchor="ctr" anchorCtr="0">
            <a:spAutoFit/>
          </a:bodyPr>
          <a:lstStyle>
            <a:lvl1pPr marL="0" indent="0" algn="ctr">
              <a:buNone/>
              <a:defRPr sz="2467" b="1" u="sng" baseline="0">
                <a:solidFill>
                  <a:schemeClr val="accent5">
                    <a:lumMod val="50000"/>
                  </a:schemeClr>
                </a:solidFill>
              </a:defRPr>
            </a:lvl1pPr>
          </a:lstStyle>
          <a:p>
            <a:pPr lvl="0"/>
            <a:r>
              <a:rPr lang="en-US"/>
              <a:t>(click to edit)  ACKNOWLEDGEMENTS or  CONTACT</a:t>
            </a:r>
          </a:p>
        </p:txBody>
      </p:sp>
      <p:sp>
        <p:nvSpPr>
          <p:cNvPr id="30" name="Text Placeholder 3"/>
          <p:cNvSpPr>
            <a:spLocks noGrp="1"/>
          </p:cNvSpPr>
          <p:nvPr>
            <p:ph type="body" sz="quarter" idx="30" hasCustomPrompt="1"/>
          </p:nvPr>
        </p:nvSpPr>
        <p:spPr>
          <a:xfrm>
            <a:off x="25042719" y="17622297"/>
            <a:ext cx="7539038"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60" name="Text Placeholder 3"/>
          <p:cNvSpPr>
            <a:spLocks noGrp="1"/>
          </p:cNvSpPr>
          <p:nvPr>
            <p:ph type="body" sz="quarter" idx="96" hasCustomPrompt="1"/>
          </p:nvPr>
        </p:nvSpPr>
        <p:spPr>
          <a:xfrm>
            <a:off x="344756" y="9967701"/>
            <a:ext cx="7542610" cy="718188"/>
          </a:xfrm>
          <a:prstGeom prst="rect">
            <a:avLst/>
          </a:prstGeom>
        </p:spPr>
        <p:txBody>
          <a:bodyPr wrap="square" lIns="228589" tIns="228589" rIns="228589" bIns="228589">
            <a:spAutoFit/>
          </a:bodyPr>
          <a:lstStyle>
            <a:lvl1pPr marL="0" indent="0">
              <a:buNone/>
              <a:defRPr sz="1667">
                <a:solidFill>
                  <a:schemeClr val="accent5">
                    <a:lumMod val="50000"/>
                  </a:schemeClr>
                </a:solidFill>
                <a:latin typeface="Times New Roman" pitchFamily="18" charset="0"/>
                <a:cs typeface="Times New Roman" pitchFamily="18" charset="0"/>
              </a:defRPr>
            </a:lvl1pPr>
            <a:lvl2pPr marL="990600" indent="-381000">
              <a:defRPr sz="1667">
                <a:latin typeface="Trebuchet MS" pitchFamily="34" charset="0"/>
              </a:defRPr>
            </a:lvl2pPr>
            <a:lvl3pPr marL="1371600" indent="-381000">
              <a:defRPr sz="1667">
                <a:latin typeface="Trebuchet MS" pitchFamily="34" charset="0"/>
              </a:defRPr>
            </a:lvl3pPr>
            <a:lvl4pPr marL="1790700" indent="-419100">
              <a:defRPr sz="1667">
                <a:latin typeface="Trebuchet MS" pitchFamily="34" charset="0"/>
              </a:defRPr>
            </a:lvl4pPr>
            <a:lvl5pPr marL="2095500" indent="-304800">
              <a:defRPr sz="1667">
                <a:latin typeface="Trebuchet MS" pitchFamily="34" charset="0"/>
              </a:defRPr>
            </a:lvl5pPr>
          </a:lstStyle>
          <a:p>
            <a:pPr lvl="0"/>
            <a:r>
              <a:rPr lang="en-US"/>
              <a:t>Type in or paste your text here</a:t>
            </a:r>
          </a:p>
        </p:txBody>
      </p:sp>
      <p:sp>
        <p:nvSpPr>
          <p:cNvPr id="77" name="Text Placeholder 76"/>
          <p:cNvSpPr>
            <a:spLocks noGrp="1"/>
          </p:cNvSpPr>
          <p:nvPr>
            <p:ph type="body" sz="quarter" idx="150" hasCustomPrompt="1"/>
          </p:nvPr>
        </p:nvSpPr>
        <p:spPr>
          <a:xfrm>
            <a:off x="4449445" y="2255965"/>
            <a:ext cx="23999226" cy="853440"/>
          </a:xfrm>
          <a:prstGeom prst="rect">
            <a:avLst/>
          </a:prstGeom>
        </p:spPr>
        <p:txBody>
          <a:bodyPr>
            <a:normAutofit/>
          </a:bodyPr>
          <a:lstStyle>
            <a:lvl1pPr marL="0" indent="0" algn="ctr">
              <a:buFontTx/>
              <a:buNone/>
              <a:defRPr sz="4000">
                <a:solidFill>
                  <a:schemeClr val="accent5">
                    <a:lumMod val="50000"/>
                  </a:schemeClr>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affiliations</a:t>
            </a:r>
          </a:p>
        </p:txBody>
      </p:sp>
      <p:sp>
        <p:nvSpPr>
          <p:cNvPr id="78" name="Text Placeholder 76"/>
          <p:cNvSpPr>
            <a:spLocks noGrp="1"/>
          </p:cNvSpPr>
          <p:nvPr>
            <p:ph type="body" sz="quarter" idx="151" hasCustomPrompt="1"/>
          </p:nvPr>
        </p:nvSpPr>
        <p:spPr>
          <a:xfrm>
            <a:off x="4449445" y="1402525"/>
            <a:ext cx="23999226" cy="853440"/>
          </a:xfrm>
          <a:prstGeom prst="rect">
            <a:avLst/>
          </a:prstGeom>
        </p:spPr>
        <p:txBody>
          <a:bodyPr anchor="t" anchorCtr="1">
            <a:normAutofit/>
          </a:bodyPr>
          <a:lstStyle>
            <a:lvl1pPr marL="0" indent="0" algn="ctr">
              <a:buFontTx/>
              <a:buNone/>
              <a:defRPr sz="5867">
                <a:solidFill>
                  <a:schemeClr val="accent5">
                    <a:lumMod val="50000"/>
                  </a:schemeClr>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authors</a:t>
            </a:r>
          </a:p>
        </p:txBody>
      </p:sp>
      <p:sp>
        <p:nvSpPr>
          <p:cNvPr id="79" name="Text Placeholder 76"/>
          <p:cNvSpPr>
            <a:spLocks noGrp="1"/>
          </p:cNvSpPr>
          <p:nvPr>
            <p:ph type="body" sz="quarter" idx="153" hasCustomPrompt="1"/>
          </p:nvPr>
        </p:nvSpPr>
        <p:spPr>
          <a:xfrm>
            <a:off x="4449445" y="310542"/>
            <a:ext cx="23999226" cy="1091982"/>
          </a:xfrm>
          <a:prstGeom prst="rect">
            <a:avLst/>
          </a:prstGeom>
        </p:spPr>
        <p:txBody>
          <a:bodyPr anchor="t" anchorCtr="1">
            <a:normAutofit/>
          </a:bodyPr>
          <a:lstStyle>
            <a:lvl1pPr marL="0" indent="0" algn="ctr">
              <a:buFontTx/>
              <a:buNone/>
              <a:defRPr sz="7667" b="1">
                <a:solidFill>
                  <a:schemeClr val="accent5">
                    <a:lumMod val="50000"/>
                  </a:schemeClr>
                </a:solidFill>
                <a:latin typeface="+mj-lt"/>
              </a:defRPr>
            </a:lvl1pPr>
            <a:lvl2pPr>
              <a:buFontTx/>
              <a:buNone/>
              <a:defRPr sz="4800"/>
            </a:lvl2pPr>
            <a:lvl3pPr>
              <a:buFontTx/>
              <a:buNone/>
              <a:defRPr sz="4800"/>
            </a:lvl3pPr>
            <a:lvl4pPr>
              <a:buFontTx/>
              <a:buNone/>
              <a:defRPr sz="4800"/>
            </a:lvl4pPr>
            <a:lvl5pPr>
              <a:buFontTx/>
              <a:buNone/>
              <a:defRPr sz="4800"/>
            </a:lvl5pPr>
          </a:lstStyle>
          <a:p>
            <a:pPr lvl="0"/>
            <a:r>
              <a:rPr lang="en-US"/>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s://www.posterpresentations.com/how-to-change-the-research-poster-template-colors.html" TargetMode="External"/><Relationship Id="rId3" Type="http://schemas.openxmlformats.org/officeDocument/2006/relationships/theme" Target="../theme/theme1.xml"/><Relationship Id="rId7" Type="http://schemas.openxmlformats.org/officeDocument/2006/relationships/image" Target="../media/image4.png"/><Relationship Id="rId12"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6598284-F28D-A64F-83EE-A86CA6EC938B}"/>
              </a:ext>
            </a:extLst>
          </p:cNvPr>
          <p:cNvSpPr/>
          <p:nvPr userDrawn="1"/>
        </p:nvSpPr>
        <p:spPr>
          <a:xfrm rot="10800000">
            <a:off x="0" y="20910324"/>
            <a:ext cx="32918400" cy="10331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734"/>
          </a:p>
        </p:txBody>
      </p:sp>
      <p:sp>
        <p:nvSpPr>
          <p:cNvPr id="2" name="Rectangle 1">
            <a:extLst>
              <a:ext uri="{FF2B5EF4-FFF2-40B4-BE49-F238E27FC236}">
                <a16:creationId xmlns:a16="http://schemas.microsoft.com/office/drawing/2014/main" id="{0A8CE8E3-AE08-7141-8144-8FB830A2D4B4}"/>
              </a:ext>
            </a:extLst>
          </p:cNvPr>
          <p:cNvSpPr/>
          <p:nvPr userDrawn="1"/>
        </p:nvSpPr>
        <p:spPr>
          <a:xfrm>
            <a:off x="0" y="1"/>
            <a:ext cx="32918400" cy="29951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734"/>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3547241946"/>
              </p:ext>
            </p:extLst>
          </p:nvPr>
        </p:nvGraphicFramePr>
        <p:xfrm>
          <a:off x="-7958340" y="9399"/>
          <a:ext cx="7332652" cy="21786147"/>
        </p:xfrm>
        <a:graphic>
          <a:graphicData uri="http://schemas.openxmlformats.org/drawingml/2006/table">
            <a:tbl>
              <a:tblPr firstRow="1" bandRow="1">
                <a:tableStyleId>{5C22544A-7EE6-4342-B048-85BDC9FD1C3A}</a:tableStyleId>
              </a:tblPr>
              <a:tblGrid>
                <a:gridCol w="3144184">
                  <a:extLst>
                    <a:ext uri="{9D8B030D-6E8A-4147-A177-3AD203B41FA5}">
                      <a16:colId xmlns:a16="http://schemas.microsoft.com/office/drawing/2014/main" val="20000"/>
                    </a:ext>
                  </a:extLst>
                </a:gridCol>
                <a:gridCol w="4188468">
                  <a:extLst>
                    <a:ext uri="{9D8B030D-6E8A-4147-A177-3AD203B41FA5}">
                      <a16:colId xmlns:a16="http://schemas.microsoft.com/office/drawing/2014/main" val="20001"/>
                    </a:ext>
                  </a:extLst>
                </a:gridCol>
              </a:tblGrid>
              <a:tr h="8860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400" b="0" spc="600">
                          <a:solidFill>
                            <a:srgbClr val="1F3A4E"/>
                          </a:solidFill>
                          <a:latin typeface="Arial Black" panose="020B0A04020102020204" pitchFamily="34" charset="0"/>
                        </a:rPr>
                        <a:t>QUICK START GUIDE</a:t>
                      </a:r>
                      <a:br>
                        <a:rPr lang="en-US" sz="2400" b="0" spc="600">
                          <a:solidFill>
                            <a:srgbClr val="1F3A4E"/>
                          </a:solidFill>
                          <a:latin typeface="Arial Black" panose="020B0A04020102020204" pitchFamily="34" charset="0"/>
                        </a:rPr>
                      </a:br>
                      <a:r>
                        <a:rPr lang="en-US" sz="1900" b="1" spc="0">
                          <a:solidFill>
                            <a:srgbClr val="FF0000"/>
                          </a:solidFill>
                          <a:latin typeface="Trebuchet MS" pitchFamily="34" charset="0"/>
                        </a:rPr>
                        <a:t>(THIS SIDEBAR WILL NOT PRINT)</a:t>
                      </a:r>
                      <a:endParaRPr lang="en-US" sz="2400" b="1" spc="600">
                        <a:solidFill>
                          <a:schemeClr val="bg1"/>
                        </a:solidFill>
                        <a:latin typeface="Trebuchet MS" pitchFamily="34" charset="0"/>
                      </a:endParaRPr>
                    </a:p>
                  </a:txBody>
                  <a:tcPr marL="68580" marR="68580" marT="30480" marB="30480">
                    <a:solidFill>
                      <a:srgbClr val="FFC000"/>
                    </a:solidFill>
                  </a:tcPr>
                </a:tc>
                <a:tc hMerge="1">
                  <a:txBody>
                    <a:bodyPr/>
                    <a:lstStyle/>
                    <a:p>
                      <a:endParaRPr lang="en-US"/>
                    </a:p>
                  </a:txBody>
                  <a:tcPr/>
                </a:tc>
                <a:extLst>
                  <a:ext uri="{0D108BD9-81ED-4DB2-BD59-A6C34878D82A}">
                    <a16:rowId xmlns:a16="http://schemas.microsoft.com/office/drawing/2014/main" val="10000"/>
                  </a:ext>
                </a:extLst>
              </a:tr>
              <a:tr h="2804416">
                <a:tc gridSpan="2">
                  <a:txBody>
                    <a:bodyPr/>
                    <a:lstStyle/>
                    <a:p>
                      <a:pPr defTabSz="3765639"/>
                      <a:r>
                        <a:rPr lang="en-US" sz="1300" i="0">
                          <a:solidFill>
                            <a:srgbClr val="D9D9D9"/>
                          </a:solidFill>
                          <a:latin typeface="Arial"/>
                          <a:cs typeface="Arial"/>
                        </a:rPr>
                        <a:t>This PowerPoint template produces a </a:t>
                      </a:r>
                      <a:r>
                        <a:rPr lang="en-US" sz="1300" i="0">
                          <a:solidFill>
                            <a:srgbClr val="FFC000"/>
                          </a:solidFill>
                          <a:latin typeface="Arial"/>
                          <a:cs typeface="Arial"/>
                        </a:rPr>
                        <a:t>36"x48" </a:t>
                      </a:r>
                      <a:r>
                        <a:rPr lang="en-US" sz="1300" i="0">
                          <a:solidFill>
                            <a:srgbClr val="D9D9D9"/>
                          </a:solidFill>
                          <a:latin typeface="Arial"/>
                          <a:cs typeface="Arial"/>
                        </a:rPr>
                        <a:t>presentation poster. You can use it to create your research poster by placing your title, subtitle, text, tables, charts and photos. </a:t>
                      </a:r>
                    </a:p>
                    <a:p>
                      <a:pPr defTabSz="3765639"/>
                      <a:endParaRPr lang="en-US" sz="1300" i="0">
                        <a:solidFill>
                          <a:srgbClr val="D9D9D9"/>
                        </a:solidFill>
                        <a:latin typeface="Arial"/>
                        <a:cs typeface="Arial"/>
                      </a:endParaRPr>
                    </a:p>
                    <a:p>
                      <a:pPr defTabSz="3765639"/>
                      <a:r>
                        <a:rPr lang="en-US" sz="1300" i="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300" i="0" err="1">
                          <a:solidFill>
                            <a:srgbClr val="FFC000"/>
                          </a:solidFill>
                          <a:latin typeface="Arial"/>
                          <a:cs typeface="Arial"/>
                        </a:rPr>
                        <a:t>PosterPresentations.com</a:t>
                      </a:r>
                      <a:r>
                        <a:rPr lang="en-US" sz="1300" i="0">
                          <a:solidFill>
                            <a:srgbClr val="D9D9D9"/>
                          </a:solidFill>
                          <a:latin typeface="Arial"/>
                          <a:cs typeface="Arial"/>
                        </a:rPr>
                        <a:t> and click on the  </a:t>
                      </a:r>
                      <a:r>
                        <a:rPr lang="en-US" sz="1300" i="0">
                          <a:solidFill>
                            <a:srgbClr val="FFC000"/>
                          </a:solidFill>
                          <a:latin typeface="Arial"/>
                          <a:cs typeface="Arial"/>
                        </a:rPr>
                        <a:t>HELP DESK</a:t>
                      </a:r>
                      <a:r>
                        <a:rPr lang="en-US" sz="1300" i="0" baseline="0">
                          <a:solidFill>
                            <a:srgbClr val="D9D9D9"/>
                          </a:solidFill>
                          <a:latin typeface="Arial"/>
                          <a:cs typeface="Arial"/>
                        </a:rPr>
                        <a:t> </a:t>
                      </a:r>
                      <a:r>
                        <a:rPr lang="en-US" sz="1300" i="0">
                          <a:solidFill>
                            <a:srgbClr val="D9D9D9"/>
                          </a:solidFill>
                          <a:latin typeface="Arial"/>
                          <a:cs typeface="Arial"/>
                        </a:rPr>
                        <a:t>tab.</a:t>
                      </a:r>
                    </a:p>
                    <a:p>
                      <a:pPr defTabSz="3765639"/>
                      <a:endParaRPr lang="en-US" sz="1300" i="0">
                        <a:solidFill>
                          <a:srgbClr val="D9D9D9"/>
                        </a:solidFill>
                        <a:latin typeface="Arial"/>
                        <a:cs typeface="Arial"/>
                      </a:endParaRPr>
                    </a:p>
                    <a:p>
                      <a:pPr defTabSz="3765639"/>
                      <a:r>
                        <a:rPr lang="en-US" sz="1300" i="0">
                          <a:solidFill>
                            <a:srgbClr val="D9D9D9"/>
                          </a:solidFill>
                          <a:latin typeface="Arial"/>
                          <a:cs typeface="Arial"/>
                        </a:rPr>
                        <a:t>To print your poster using our same-day professional printing service, go online to </a:t>
                      </a:r>
                      <a:r>
                        <a:rPr lang="en-US" sz="1300" i="0" err="1">
                          <a:solidFill>
                            <a:srgbClr val="FFC000"/>
                          </a:solidFill>
                          <a:latin typeface="Arial"/>
                          <a:cs typeface="Arial"/>
                        </a:rPr>
                        <a:t>PosterPresentations.com</a:t>
                      </a:r>
                      <a:r>
                        <a:rPr lang="en-US" sz="1300" i="0">
                          <a:solidFill>
                            <a:srgbClr val="D9D9D9"/>
                          </a:solidFill>
                          <a:latin typeface="Arial"/>
                          <a:cs typeface="Arial"/>
                        </a:rPr>
                        <a:t> and click on "</a:t>
                      </a:r>
                      <a:r>
                        <a:rPr lang="en-US" sz="1300" i="0">
                          <a:solidFill>
                            <a:srgbClr val="FFC000"/>
                          </a:solidFill>
                          <a:latin typeface="Arial"/>
                          <a:cs typeface="Arial"/>
                        </a:rPr>
                        <a:t>Order your poster</a:t>
                      </a:r>
                      <a:r>
                        <a:rPr lang="en-US" sz="1300" i="0">
                          <a:solidFill>
                            <a:srgbClr val="D9D9D9"/>
                          </a:solidFill>
                          <a:latin typeface="Arial"/>
                          <a:cs typeface="Arial"/>
                        </a:rPr>
                        <a:t>".</a:t>
                      </a:r>
                      <a:endParaRPr lang="en-US" sz="1300" b="1">
                        <a:solidFill>
                          <a:srgbClr val="D9D9D9"/>
                        </a:solidFill>
                        <a:latin typeface="Arial"/>
                        <a:cs typeface="Arial"/>
                      </a:endParaRPr>
                    </a:p>
                  </a:txBody>
                  <a:tcPr marL="68580" marR="68580" marT="30480" marB="30480">
                    <a:solidFill>
                      <a:srgbClr val="010101"/>
                    </a:solidFill>
                  </a:tcPr>
                </a:tc>
                <a:tc hMerge="1">
                  <a:txBody>
                    <a:bodyPr/>
                    <a:lstStyle/>
                    <a:p>
                      <a:pPr marL="0" indent="0" algn="l" defTabSz="114300"/>
                      <a:endParaRPr lang="en-US" sz="2400" b="0" baseline="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3048278">
                <a:tc>
                  <a:txBody>
                    <a:bodyPr/>
                    <a:lstStyle/>
                    <a:p>
                      <a:pPr algn="ctr"/>
                      <a:endParaRPr lang="en-US" sz="1300">
                        <a:solidFill>
                          <a:srgbClr val="1F3A4E"/>
                        </a:solidFill>
                      </a:endParaRPr>
                    </a:p>
                    <a:p>
                      <a:pPr algn="ctr"/>
                      <a:endParaRPr lang="en-US" sz="1300">
                        <a:solidFill>
                          <a:srgbClr val="1F3A4E"/>
                        </a:solidFill>
                      </a:endParaRPr>
                    </a:p>
                    <a:p>
                      <a:pPr algn="ctr"/>
                      <a:r>
                        <a:rPr lang="en-US" sz="1300">
                          <a:solidFill>
                            <a:schemeClr val="bg1"/>
                          </a:solidFill>
                          <a:latin typeface="Arial" panose="020B0604020202020204" pitchFamily="34" charset="0"/>
                          <a:cs typeface="Arial" panose="020B0604020202020204" pitchFamily="34" charset="0"/>
                        </a:rPr>
                        <a:t>This is a template for a </a:t>
                      </a:r>
                    </a:p>
                    <a:p>
                      <a:pPr algn="ctr"/>
                      <a:r>
                        <a:rPr lang="en-US" sz="1300">
                          <a:solidFill>
                            <a:schemeClr val="bg1"/>
                          </a:solidFill>
                          <a:latin typeface="Arial" panose="020B0604020202020204" pitchFamily="34" charset="0"/>
                          <a:cs typeface="Arial" panose="020B0604020202020204" pitchFamily="34" charset="0"/>
                        </a:rPr>
                        <a:t>presentation poster</a:t>
                      </a:r>
                      <a:br>
                        <a:rPr lang="en-US" sz="1300">
                          <a:solidFill>
                            <a:schemeClr val="bg1"/>
                          </a:solidFill>
                          <a:latin typeface="Arial" panose="020B0604020202020204" pitchFamily="34" charset="0"/>
                          <a:cs typeface="Arial" panose="020B0604020202020204" pitchFamily="34" charset="0"/>
                        </a:rPr>
                      </a:br>
                      <a:r>
                        <a:rPr lang="en-US" sz="2400" b="1">
                          <a:solidFill>
                            <a:srgbClr val="FFC000"/>
                          </a:solidFill>
                          <a:latin typeface="Arial" panose="020B0604020202020204" pitchFamily="34" charset="0"/>
                          <a:cs typeface="Arial" panose="020B0604020202020204" pitchFamily="34" charset="0"/>
                        </a:rPr>
                        <a:t>36 inches tall</a:t>
                      </a:r>
                      <a:br>
                        <a:rPr lang="en-US" sz="2400" b="1">
                          <a:solidFill>
                            <a:srgbClr val="FFC000"/>
                          </a:solidFill>
                          <a:latin typeface="Arial" panose="020B0604020202020204" pitchFamily="34" charset="0"/>
                          <a:cs typeface="Arial" panose="020B0604020202020204" pitchFamily="34" charset="0"/>
                        </a:rPr>
                      </a:br>
                      <a:r>
                        <a:rPr lang="en-US" sz="2400" b="1">
                          <a:solidFill>
                            <a:srgbClr val="FFC000"/>
                          </a:solidFill>
                          <a:latin typeface="Arial" panose="020B0604020202020204" pitchFamily="34" charset="0"/>
                          <a:cs typeface="Arial" panose="020B0604020202020204" pitchFamily="34" charset="0"/>
                        </a:rPr>
                        <a:t>by</a:t>
                      </a:r>
                      <a:br>
                        <a:rPr lang="en-US" sz="2400" b="1">
                          <a:solidFill>
                            <a:srgbClr val="FFC000"/>
                          </a:solidFill>
                          <a:latin typeface="Arial" panose="020B0604020202020204" pitchFamily="34" charset="0"/>
                          <a:cs typeface="Arial" panose="020B0604020202020204" pitchFamily="34" charset="0"/>
                        </a:rPr>
                      </a:br>
                      <a:r>
                        <a:rPr lang="en-US" sz="2400" b="1">
                          <a:solidFill>
                            <a:srgbClr val="FFC000"/>
                          </a:solidFill>
                          <a:latin typeface="Arial" panose="020B0604020202020204" pitchFamily="34" charset="0"/>
                          <a:cs typeface="Arial" panose="020B0604020202020204" pitchFamily="34" charset="0"/>
                        </a:rPr>
                        <a:t>48 inches wide</a:t>
                      </a:r>
                      <a:br>
                        <a:rPr lang="en-US" sz="1300">
                          <a:solidFill>
                            <a:schemeClr val="bg1"/>
                          </a:solidFill>
                          <a:latin typeface="Arial" panose="020B0604020202020204" pitchFamily="34" charset="0"/>
                          <a:cs typeface="Arial" panose="020B0604020202020204" pitchFamily="34" charset="0"/>
                        </a:rPr>
                      </a:br>
                      <a:endParaRPr lang="en-US" sz="1300">
                        <a:solidFill>
                          <a:srgbClr val="1F3A4E"/>
                        </a:solidFill>
                      </a:endParaRPr>
                    </a:p>
                  </a:txBody>
                  <a:tcPr marL="68580" marR="68580" marT="30480" marB="3048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600" b="1" baseline="0">
                          <a:solidFill>
                            <a:srgbClr val="FFC000"/>
                          </a:solidFill>
                          <a:latin typeface="Arial" panose="020B0604020202020204" pitchFamily="34" charset="0"/>
                          <a:cs typeface="Arial" panose="020B0604020202020204" pitchFamily="34" charset="0"/>
                        </a:rPr>
                        <a:t>Important: Check the template size</a:t>
                      </a:r>
                      <a:br>
                        <a:rPr lang="en-US" sz="1300" b="0" baseline="0">
                          <a:solidFill>
                            <a:srgbClr val="FFC000"/>
                          </a:solidFill>
                          <a:latin typeface="Arial" panose="020B0604020202020204" pitchFamily="34" charset="0"/>
                          <a:cs typeface="Arial" panose="020B0604020202020204" pitchFamily="34" charset="0"/>
                        </a:rPr>
                      </a:br>
                      <a:r>
                        <a:rPr lang="en-US" sz="1300" b="0" baseline="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300" b="0" baseline="0">
                          <a:solidFill>
                            <a:srgbClr val="D9D9D9"/>
                          </a:solidFill>
                          <a:latin typeface="Arial" panose="020B0604020202020204" pitchFamily="34" charset="0"/>
                          <a:cs typeface="Arial" panose="020B0604020202020204" pitchFamily="34" charset="0"/>
                        </a:rPr>
                      </a:br>
                      <a:r>
                        <a:rPr lang="en-US" sz="1300" b="0" baseline="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300" b="0" baseline="0">
                          <a:solidFill>
                            <a:srgbClr val="D9D9D9"/>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30 tall x 40 wide</a:t>
                      </a:r>
                      <a:br>
                        <a:rPr lang="en-US" sz="1300" b="0" baseline="0">
                          <a:solidFill>
                            <a:srgbClr val="FFC000"/>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42 tall x 56 wide</a:t>
                      </a:r>
                      <a:br>
                        <a:rPr lang="en-US" sz="1300" b="0" baseline="0">
                          <a:solidFill>
                            <a:srgbClr val="FFC000"/>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48 tall x 64 wide</a:t>
                      </a:r>
                    </a:p>
                  </a:txBody>
                  <a:tcPr marL="137160" marR="68580" marT="91440" marB="30480">
                    <a:solidFill>
                      <a:srgbClr val="010101"/>
                    </a:solidFill>
                  </a:tcPr>
                </a:tc>
                <a:extLst>
                  <a:ext uri="{0D108BD9-81ED-4DB2-BD59-A6C34878D82A}">
                    <a16:rowId xmlns:a16="http://schemas.microsoft.com/office/drawing/2014/main" val="10008"/>
                  </a:ext>
                </a:extLst>
              </a:tr>
              <a:tr h="2859128">
                <a:tc>
                  <a:txBody>
                    <a:bodyPr/>
                    <a:lstStyle/>
                    <a:p>
                      <a:endParaRPr lang="en-US" sz="1300">
                        <a:solidFill>
                          <a:srgbClr val="1F3A4E"/>
                        </a:solidFill>
                      </a:endParaRPr>
                    </a:p>
                  </a:txBody>
                  <a:tcPr marL="68580" marR="68580" marT="30480" marB="30480">
                    <a:blipFill rotWithShape="1">
                      <a:blip r:embed="rId4"/>
                      <a:stretch>
                        <a:fillRect/>
                      </a:stretch>
                    </a:blipFill>
                  </a:tcPr>
                </a:tc>
                <a:tc>
                  <a:txBody>
                    <a:bodyPr/>
                    <a:lstStyle/>
                    <a:p>
                      <a:pPr algn="l"/>
                      <a:r>
                        <a:rPr lang="en-US" sz="1600" b="1" baseline="0">
                          <a:solidFill>
                            <a:srgbClr val="FFC000"/>
                          </a:solidFill>
                          <a:latin typeface="Arial" panose="020B0604020202020204" pitchFamily="34" charset="0"/>
                          <a:cs typeface="Arial" panose="020B0604020202020204" pitchFamily="34" charset="0"/>
                        </a:rPr>
                        <a:t>How to </a:t>
                      </a:r>
                      <a:r>
                        <a:rPr lang="en-US" sz="2700" b="1" baseline="0">
                          <a:solidFill>
                            <a:srgbClr val="FFC000"/>
                          </a:solidFill>
                          <a:latin typeface="Arial" panose="020B0604020202020204" pitchFamily="34" charset="0"/>
                          <a:cs typeface="Arial" panose="020B0604020202020204" pitchFamily="34" charset="0"/>
                        </a:rPr>
                        <a:t>Zoom in </a:t>
                      </a:r>
                      <a:r>
                        <a:rPr lang="en-US" sz="1600" b="1" baseline="0">
                          <a:solidFill>
                            <a:srgbClr val="FFC000"/>
                          </a:solidFill>
                          <a:latin typeface="Arial" panose="020B0604020202020204" pitchFamily="34" charset="0"/>
                          <a:cs typeface="Arial" panose="020B0604020202020204" pitchFamily="34" charset="0"/>
                        </a:rPr>
                        <a:t>and </a:t>
                      </a:r>
                      <a:r>
                        <a:rPr lang="en-US" sz="1200" b="1" baseline="0">
                          <a:solidFill>
                            <a:srgbClr val="FFC000"/>
                          </a:solidFill>
                          <a:latin typeface="Arial" panose="020B0604020202020204" pitchFamily="34" charset="0"/>
                          <a:cs typeface="Arial" panose="020B0604020202020204" pitchFamily="34" charset="0"/>
                        </a:rPr>
                        <a:t>out</a:t>
                      </a:r>
                      <a:endParaRPr lang="en-US" sz="1600" b="1" baseline="0">
                        <a:solidFill>
                          <a:srgbClr val="FFC000"/>
                        </a:solidFill>
                        <a:latin typeface="Arial" panose="020B0604020202020204" pitchFamily="34" charset="0"/>
                        <a:cs typeface="Arial" panose="020B0604020202020204" pitchFamily="34" charset="0"/>
                      </a:endParaRPr>
                    </a:p>
                    <a:p>
                      <a:pPr algn="l"/>
                      <a:r>
                        <a:rPr lang="en-US" sz="1300" b="0" baseline="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300" b="0" baseline="0">
                          <a:solidFill>
                            <a:srgbClr val="D9D9D9"/>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1. </a:t>
                      </a:r>
                      <a:r>
                        <a:rPr lang="en-US" sz="1300" b="0" baseline="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300" b="0" baseline="0">
                          <a:solidFill>
                            <a:srgbClr val="D9D9D9"/>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2. </a:t>
                      </a:r>
                      <a:r>
                        <a:rPr lang="en-US" sz="1300" b="0" baseline="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37160" marR="68580" marT="91440" marB="30480">
                    <a:solidFill>
                      <a:srgbClr val="010101"/>
                    </a:solidFill>
                  </a:tcPr>
                </a:tc>
                <a:extLst>
                  <a:ext uri="{0D108BD9-81ED-4DB2-BD59-A6C34878D82A}">
                    <a16:rowId xmlns:a16="http://schemas.microsoft.com/office/drawing/2014/main" val="10001"/>
                  </a:ext>
                </a:extLst>
              </a:tr>
              <a:tr h="1200351">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600" b="1" baseline="0">
                          <a:solidFill>
                            <a:srgbClr val="FFC000"/>
                          </a:solidFill>
                          <a:latin typeface="Arial" panose="020B0604020202020204" pitchFamily="34" charset="0"/>
                          <a:cs typeface="Arial" panose="020B0604020202020204" pitchFamily="34" charset="0"/>
                        </a:rPr>
                        <a:t>Ruler and Guides</a:t>
                      </a:r>
                      <a:br>
                        <a:rPr lang="en-US" sz="1300" b="0" baseline="0">
                          <a:solidFill>
                            <a:srgbClr val="FFC000"/>
                          </a:solidFill>
                          <a:latin typeface="Arial" panose="020B0604020202020204" pitchFamily="34" charset="0"/>
                          <a:cs typeface="Arial" panose="020B0604020202020204" pitchFamily="34" charset="0"/>
                        </a:rPr>
                      </a:br>
                      <a:r>
                        <a:rPr lang="en-US" sz="1300" b="0" baseline="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37160" marR="68580" marT="91440" marB="30480">
                    <a:solidFill>
                      <a:srgbClr val="010101"/>
                    </a:solidFill>
                  </a:tcPr>
                </a:tc>
                <a:tc hMerge="1">
                  <a:txBody>
                    <a:bodyPr/>
                    <a:lstStyle/>
                    <a:p>
                      <a:endParaRPr lang="en-US" sz="2400" b="0" baseline="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549559">
                <a:tc>
                  <a:txBody>
                    <a:bodyPr/>
                    <a:lstStyle/>
                    <a:p>
                      <a:endParaRPr lang="en-US" sz="1300">
                        <a:solidFill>
                          <a:srgbClr val="1F3A4E"/>
                        </a:solidFill>
                      </a:endParaRPr>
                    </a:p>
                  </a:txBody>
                  <a:tcPr marL="68580" marR="68580" marT="30480" marB="30480">
                    <a:blipFill rotWithShape="1">
                      <a:blip r:embed="rId5"/>
                      <a:stretch>
                        <a:fillRect/>
                      </a:stretch>
                    </a:blipFill>
                  </a:tcPr>
                </a:tc>
                <a:tc>
                  <a:txBody>
                    <a:bodyPr/>
                    <a:lstStyle/>
                    <a:p>
                      <a:pPr marL="0" lvl="1" indent="0" algn="l" defTabSz="114300"/>
                      <a:r>
                        <a:rPr lang="en-US" sz="1600" b="1" baseline="0">
                          <a:solidFill>
                            <a:srgbClr val="FFC000"/>
                          </a:solidFill>
                          <a:latin typeface="Arial" panose="020B0604020202020204" pitchFamily="34" charset="0"/>
                          <a:cs typeface="Arial" panose="020B0604020202020204" pitchFamily="34" charset="0"/>
                        </a:rPr>
                        <a:t>Headers and text containers</a:t>
                      </a:r>
                      <a:br>
                        <a:rPr lang="en-US" sz="1300" b="0" baseline="0">
                          <a:solidFill>
                            <a:schemeClr val="bg1"/>
                          </a:solidFill>
                          <a:latin typeface="Arial" panose="020B0604020202020204" pitchFamily="34" charset="0"/>
                          <a:cs typeface="Arial" panose="020B0604020202020204" pitchFamily="34" charset="0"/>
                        </a:rPr>
                      </a:br>
                      <a:r>
                        <a:rPr lang="en-US" sz="1300" b="0" baseline="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300" b="0" baseline="0">
                          <a:solidFill>
                            <a:schemeClr val="bg1"/>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a:t>
                      </a:r>
                      <a:r>
                        <a:rPr lang="en-US" sz="1300" b="0" baseline="0">
                          <a:solidFill>
                            <a:schemeClr val="bg1"/>
                          </a:solidFill>
                          <a:latin typeface="Arial" panose="020B0604020202020204" pitchFamily="34" charset="0"/>
                          <a:cs typeface="Arial" panose="020B0604020202020204" pitchFamily="34" charset="0"/>
                        </a:rPr>
                        <a:t> </a:t>
                      </a:r>
                      <a:r>
                        <a:rPr lang="en-US" sz="1300" b="0" baseline="0">
                          <a:solidFill>
                            <a:srgbClr val="D9D9D9"/>
                          </a:solidFill>
                          <a:latin typeface="Arial" panose="020B0604020202020204" pitchFamily="34" charset="0"/>
                          <a:cs typeface="Arial" panose="020B0604020202020204" pitchFamily="34" charset="0"/>
                        </a:rPr>
                        <a:t>Click inside a section header to add its text. </a:t>
                      </a:r>
                      <a:br>
                        <a:rPr lang="en-US" sz="1300" b="0" baseline="0">
                          <a:solidFill>
                            <a:schemeClr val="bg1"/>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a:t>
                      </a:r>
                      <a:r>
                        <a:rPr lang="en-US" sz="1300" b="0" baseline="0">
                          <a:solidFill>
                            <a:schemeClr val="bg1"/>
                          </a:solidFill>
                          <a:latin typeface="Arial" panose="020B0604020202020204" pitchFamily="34" charset="0"/>
                          <a:cs typeface="Arial" panose="020B0604020202020204" pitchFamily="34" charset="0"/>
                        </a:rPr>
                        <a:t> </a:t>
                      </a:r>
                      <a:r>
                        <a:rPr lang="en-US" sz="1300" b="0" baseline="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300" b="0" baseline="0">
                          <a:solidFill>
                            <a:schemeClr val="bg1"/>
                          </a:solidFill>
                          <a:latin typeface="Arial" panose="020B0604020202020204" pitchFamily="34" charset="0"/>
                          <a:cs typeface="Arial" panose="020B0604020202020204" pitchFamily="34" charset="0"/>
                        </a:rPr>
                      </a:br>
                      <a:r>
                        <a:rPr lang="en-US" sz="1300" b="0" baseline="0">
                          <a:solidFill>
                            <a:srgbClr val="FFC000"/>
                          </a:solidFill>
                          <a:latin typeface="Arial" panose="020B0604020202020204" pitchFamily="34" charset="0"/>
                          <a:cs typeface="Arial" panose="020B0604020202020204" pitchFamily="34" charset="0"/>
                        </a:rPr>
                        <a:t>-</a:t>
                      </a:r>
                      <a:r>
                        <a:rPr lang="en-US" sz="1300" b="0" baseline="0">
                          <a:solidFill>
                            <a:schemeClr val="bg1"/>
                          </a:solidFill>
                          <a:latin typeface="Arial" panose="020B0604020202020204" pitchFamily="34" charset="0"/>
                          <a:cs typeface="Arial" panose="020B0604020202020204" pitchFamily="34" charset="0"/>
                        </a:rPr>
                        <a:t> </a:t>
                      </a:r>
                      <a:r>
                        <a:rPr lang="en-US" sz="1300" b="0" baseline="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37160" marR="68580" marT="91440" marB="30480">
                    <a:solidFill>
                      <a:srgbClr val="010101"/>
                    </a:solidFill>
                  </a:tcPr>
                </a:tc>
                <a:extLst>
                  <a:ext uri="{0D108BD9-81ED-4DB2-BD59-A6C34878D82A}">
                    <a16:rowId xmlns:a16="http://schemas.microsoft.com/office/drawing/2014/main" val="10003"/>
                  </a:ext>
                </a:extLst>
              </a:tr>
              <a:tr h="2346090">
                <a:tc gridSpan="2">
                  <a:txBody>
                    <a:bodyPr/>
                    <a:lstStyle/>
                    <a:p>
                      <a:r>
                        <a:rPr lang="en-US" sz="1600" b="1">
                          <a:solidFill>
                            <a:srgbClr val="FFC000"/>
                          </a:solidFill>
                          <a:latin typeface="Arial" panose="020B0604020202020204" pitchFamily="34" charset="0"/>
                          <a:cs typeface="Arial" panose="020B0604020202020204" pitchFamily="34" charset="0"/>
                        </a:rPr>
                        <a:t>Adding content to the poster</a:t>
                      </a:r>
                    </a:p>
                    <a:p>
                      <a:r>
                        <a:rPr lang="en-US" sz="1300" baseline="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300" baseline="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300">
                        <a:solidFill>
                          <a:srgbClr val="D9D9D9"/>
                        </a:solidFill>
                        <a:latin typeface="Arial" panose="020B0604020202020204" pitchFamily="34" charset="0"/>
                        <a:cs typeface="Arial" panose="020B0604020202020204" pitchFamily="34" charset="0"/>
                      </a:endParaRPr>
                    </a:p>
                  </a:txBody>
                  <a:tcPr marL="137160" marR="68580" marT="91440" marB="30480">
                    <a:solidFill>
                      <a:srgbClr val="010101"/>
                    </a:solidFill>
                  </a:tcPr>
                </a:tc>
                <a:tc hMerge="1">
                  <a:txBody>
                    <a:bodyPr/>
                    <a:lstStyle/>
                    <a:p>
                      <a:endParaRPr lang="en-US" sz="240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58510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68580" marR="68580" marT="30480" marB="3048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528780">
                <a:tc gridSpan="2">
                  <a:txBody>
                    <a:bodyPr/>
                    <a:lstStyle/>
                    <a:p>
                      <a:endParaRPr lang="en-US" sz="1300">
                        <a:solidFill>
                          <a:schemeClr val="bg1"/>
                        </a:solidFill>
                        <a:latin typeface="Arial" panose="020B0604020202020204" pitchFamily="34" charset="0"/>
                        <a:cs typeface="Arial" panose="020B0604020202020204" pitchFamily="34" charset="0"/>
                      </a:endParaRPr>
                    </a:p>
                  </a:txBody>
                  <a:tcPr marL="68580" marR="68580" marT="30480" marB="30480">
                    <a:blipFill rotWithShape="1">
                      <a:blip r:embed="rId6"/>
                      <a:stretch>
                        <a:fillRect/>
                      </a:stretch>
                    </a:blipFill>
                  </a:tcPr>
                </a:tc>
                <a:tc hMerge="1">
                  <a:txBody>
                    <a:bodyPr/>
                    <a:lstStyle/>
                    <a:p>
                      <a:endParaRPr lang="en-US" sz="2400">
                        <a:solidFill>
                          <a:srgbClr val="1F3A4E"/>
                        </a:solidFill>
                      </a:endParaRPr>
                    </a:p>
                  </a:txBody>
                  <a:tcPr/>
                </a:tc>
                <a:extLst>
                  <a:ext uri="{0D108BD9-81ED-4DB2-BD59-A6C34878D82A}">
                    <a16:rowId xmlns:a16="http://schemas.microsoft.com/office/drawing/2014/main" val="10006"/>
                  </a:ext>
                </a:extLst>
              </a:tr>
              <a:tr h="85351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600" b="1" noProof="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a:cs typeface="Arial"/>
                        </a:rPr>
                        <a:t>Zoom in and look at your images at 100%-200% magnification. If they look clear, they will print well. </a:t>
                      </a:r>
                    </a:p>
                  </a:txBody>
                  <a:tcPr marL="68580" marR="68580" marT="30480" marB="30480">
                    <a:solidFill>
                      <a:srgbClr val="010101"/>
                    </a:solidFill>
                  </a:tcPr>
                </a:tc>
                <a:tc hMerge="1">
                  <a:txBody>
                    <a:bodyPr/>
                    <a:lstStyle/>
                    <a:p>
                      <a:endParaRPr lang="en-US" sz="240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12484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300" noProof="0">
                        <a:solidFill>
                          <a:schemeClr val="bg1"/>
                        </a:solidFill>
                        <a:latin typeface="Arial"/>
                        <a:cs typeface="Arial"/>
                      </a:endParaRPr>
                    </a:p>
                  </a:txBody>
                  <a:tcPr marL="68580" marR="68580" marT="30480" marB="30480">
                    <a:blipFill rotWithShape="1">
                      <a:blip r:embed="rId7"/>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2143032739"/>
              </p:ext>
            </p:extLst>
          </p:nvPr>
        </p:nvGraphicFramePr>
        <p:xfrm>
          <a:off x="33521422" y="-56500"/>
          <a:ext cx="7072641" cy="22050047"/>
        </p:xfrm>
        <a:graphic>
          <a:graphicData uri="http://schemas.openxmlformats.org/drawingml/2006/table">
            <a:tbl>
              <a:tblPr firstRow="1" bandRow="1">
                <a:tableStyleId>{5C22544A-7EE6-4342-B048-85BDC9FD1C3A}</a:tableStyleId>
              </a:tblPr>
              <a:tblGrid>
                <a:gridCol w="2507876">
                  <a:extLst>
                    <a:ext uri="{9D8B030D-6E8A-4147-A177-3AD203B41FA5}">
                      <a16:colId xmlns:a16="http://schemas.microsoft.com/office/drawing/2014/main" val="20000"/>
                    </a:ext>
                  </a:extLst>
                </a:gridCol>
                <a:gridCol w="1036169">
                  <a:extLst>
                    <a:ext uri="{9D8B030D-6E8A-4147-A177-3AD203B41FA5}">
                      <a16:colId xmlns:a16="http://schemas.microsoft.com/office/drawing/2014/main" val="997673227"/>
                    </a:ext>
                  </a:extLst>
                </a:gridCol>
                <a:gridCol w="3528596">
                  <a:extLst>
                    <a:ext uri="{9D8B030D-6E8A-4147-A177-3AD203B41FA5}">
                      <a16:colId xmlns:a16="http://schemas.microsoft.com/office/drawing/2014/main" val="4164475170"/>
                    </a:ext>
                  </a:extLst>
                </a:gridCol>
              </a:tblGrid>
              <a:tr h="1170955">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700" b="0" spc="600">
                          <a:solidFill>
                            <a:srgbClr val="1F3A4E"/>
                          </a:solidFill>
                          <a:latin typeface="Arial Black" panose="020B0A04020102020204" pitchFamily="34" charset="0"/>
                        </a:rPr>
                        <a:t>QUICK START GUIDE</a:t>
                      </a:r>
                      <a:br>
                        <a:rPr lang="en-US" sz="2700" b="0" spc="600">
                          <a:solidFill>
                            <a:srgbClr val="1F3A4E"/>
                          </a:solidFill>
                          <a:latin typeface="Arial Black" panose="020B0A04020102020204" pitchFamily="34" charset="0"/>
                        </a:rPr>
                      </a:br>
                      <a:r>
                        <a:rPr lang="en-US" sz="2100" b="1" spc="0">
                          <a:solidFill>
                            <a:srgbClr val="FF0000"/>
                          </a:solidFill>
                          <a:latin typeface="Trebuchet MS" pitchFamily="34" charset="0"/>
                        </a:rPr>
                        <a:t>(THIS SIDEBAR WILL NOT PRINT)</a:t>
                      </a:r>
                      <a:endParaRPr lang="en-US" sz="2700" b="1" spc="600">
                        <a:solidFill>
                          <a:schemeClr val="bg1"/>
                        </a:solidFill>
                        <a:latin typeface="Trebuchet MS" pitchFamily="34" charset="0"/>
                      </a:endParaRPr>
                    </a:p>
                  </a:txBody>
                  <a:tcPr marL="68580" marR="68580" marT="30480" marB="3048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734">
                <a:tc gridSpan="3">
                  <a:txBody>
                    <a:bodyPr/>
                    <a:lstStyle/>
                    <a:p>
                      <a:pPr algn="l"/>
                      <a:r>
                        <a:rPr lang="en-US" sz="1900" b="1" baseline="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600" b="0" baseline="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600">
                          <a:solidFill>
                            <a:srgbClr val="FFC000"/>
                          </a:solidFill>
                          <a:hlinkClick r:id="rId8">
                            <a:extLst>
                              <a:ext uri="{A12FA001-AC4F-418D-AE19-62706E023703}">
                                <ahyp:hlinkClr xmlns:ahyp="http://schemas.microsoft.com/office/drawing/2018/hyperlinkcolor" val="tx"/>
                              </a:ext>
                            </a:extLst>
                          </a:hlinkClick>
                        </a:rPr>
                        <a:t>https://www.posterpresentations.com/how-to-change-the-research-poster-template-colors.html</a:t>
                      </a:r>
                      <a:endParaRPr lang="en-US" sz="1600">
                        <a:solidFill>
                          <a:srgbClr val="FFC000"/>
                        </a:solidFill>
                      </a:endParaRPr>
                    </a:p>
                    <a:p>
                      <a:pPr marL="0" indent="0" algn="l" defTabSz="114300"/>
                      <a:endParaRPr lang="en-US" sz="1600" b="0" baseline="0">
                        <a:solidFill>
                          <a:srgbClr val="D9D9D9"/>
                        </a:solidFill>
                        <a:latin typeface="Arial" panose="020B0604020202020204" pitchFamily="34" charset="0"/>
                        <a:cs typeface="Arial" panose="020B0604020202020204" pitchFamily="34" charset="0"/>
                      </a:endParaRPr>
                    </a:p>
                    <a:p>
                      <a:pPr marL="0" indent="0" algn="l" defTabSz="114300"/>
                      <a:r>
                        <a:rPr lang="en-US" sz="1600" b="0" baseline="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600" b="0" baseline="0">
                        <a:solidFill>
                          <a:srgbClr val="D9D9D9"/>
                        </a:solidFill>
                        <a:latin typeface="Arial" panose="020B0604020202020204" pitchFamily="34" charset="0"/>
                        <a:cs typeface="Arial" panose="020B0604020202020204" pitchFamily="34" charset="0"/>
                      </a:endParaRPr>
                    </a:p>
                    <a:p>
                      <a:pPr marL="0" indent="0" algn="l" defTabSz="114300"/>
                      <a:r>
                        <a:rPr lang="en-US" sz="1600" b="0" baseline="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68580" marR="68580" marT="30480" marB="30480">
                    <a:solidFill>
                      <a:schemeClr val="tx1"/>
                    </a:solidFill>
                  </a:tcPr>
                </a:tc>
                <a:tc hMerge="1">
                  <a:txBody>
                    <a:bodyPr/>
                    <a:lstStyle/>
                    <a:p>
                      <a:endParaRPr lang="en-US" sz="2400">
                        <a:solidFill>
                          <a:srgbClr val="1F3A4E"/>
                        </a:solidFill>
                      </a:endParaRPr>
                    </a:p>
                  </a:txBody>
                  <a:tcPr marL="182880" marT="137160">
                    <a:blipFill rotWithShape="1">
                      <a:blip r:embed="rId9"/>
                      <a:stretch>
                        <a:fillRect/>
                      </a:stretch>
                    </a:blipFill>
                  </a:tcPr>
                </a:tc>
                <a:tc hMerge="1">
                  <a:txBody>
                    <a:bodyPr/>
                    <a:lstStyle/>
                    <a:p>
                      <a:endParaRPr lang="en-US"/>
                    </a:p>
                  </a:txBody>
                  <a:tcPr/>
                </a:tc>
                <a:extLst>
                  <a:ext uri="{0D108BD9-81ED-4DB2-BD59-A6C34878D82A}">
                    <a16:rowId xmlns:a16="http://schemas.microsoft.com/office/drawing/2014/main" val="10001"/>
                  </a:ext>
                </a:extLst>
              </a:tr>
              <a:tr h="2445146">
                <a:tc gridSpan="3">
                  <a:txBody>
                    <a:bodyPr/>
                    <a:lstStyle/>
                    <a:p>
                      <a:r>
                        <a:rPr lang="en-US" sz="1900" b="1">
                          <a:solidFill>
                            <a:srgbClr val="FFC000"/>
                          </a:solidFill>
                          <a:latin typeface="Arial" panose="020B0604020202020204" pitchFamily="34" charset="0"/>
                          <a:cs typeface="Arial" panose="020B0604020202020204" pitchFamily="34" charset="0"/>
                        </a:rPr>
                        <a:t>How to change the column layout configuration</a:t>
                      </a:r>
                    </a:p>
                    <a:p>
                      <a:r>
                        <a:rPr lang="en-US" sz="160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600">
                          <a:solidFill>
                            <a:srgbClr val="D9D9D9"/>
                          </a:solidFill>
                          <a:latin typeface="Arial" panose="020B0604020202020204" pitchFamily="34" charset="0"/>
                          <a:cs typeface="Arial" panose="020B0604020202020204" pitchFamily="34" charset="0"/>
                        </a:rPr>
                        <a:t>You can see a tutorial here: </a:t>
                      </a:r>
                      <a:r>
                        <a:rPr lang="en-US" sz="1600" u="sng">
                          <a:solidFill>
                            <a:srgbClr val="FFC000"/>
                          </a:solidFill>
                          <a:latin typeface="Arial" panose="020B0604020202020204" pitchFamily="34" charset="0"/>
                          <a:cs typeface="Arial" panose="020B0604020202020204" pitchFamily="34" charset="0"/>
                        </a:rPr>
                        <a:t>https://</a:t>
                      </a:r>
                      <a:r>
                        <a:rPr lang="en-US" sz="1600" u="sng" err="1">
                          <a:solidFill>
                            <a:srgbClr val="FFC000"/>
                          </a:solidFill>
                          <a:latin typeface="Arial" panose="020B0604020202020204" pitchFamily="34" charset="0"/>
                          <a:cs typeface="Arial" panose="020B0604020202020204" pitchFamily="34" charset="0"/>
                        </a:rPr>
                        <a:t>www.posterpresentations.com</a:t>
                      </a:r>
                      <a:r>
                        <a:rPr lang="en-US" sz="1600" u="sng">
                          <a:solidFill>
                            <a:srgbClr val="FFC000"/>
                          </a:solidFill>
                          <a:latin typeface="Arial" panose="020B0604020202020204" pitchFamily="34" charset="0"/>
                          <a:cs typeface="Arial" panose="020B0604020202020204" pitchFamily="34" charset="0"/>
                        </a:rPr>
                        <a:t>/how-to-change-the-column-</a:t>
                      </a:r>
                      <a:r>
                        <a:rPr lang="en-US" sz="1600" u="sng" err="1">
                          <a:solidFill>
                            <a:srgbClr val="FFC000"/>
                          </a:solidFill>
                          <a:latin typeface="Arial" panose="020B0604020202020204" pitchFamily="34" charset="0"/>
                          <a:cs typeface="Arial" panose="020B0604020202020204" pitchFamily="34" charset="0"/>
                        </a:rPr>
                        <a:t>configuration.html</a:t>
                      </a:r>
                      <a:endParaRPr lang="en-US" sz="5700" u="sng">
                        <a:solidFill>
                          <a:srgbClr val="FFC000"/>
                        </a:solidFill>
                      </a:endParaRPr>
                    </a:p>
                  </a:txBody>
                  <a:tcPr marL="137160" marR="68580" marT="91440" marB="30480">
                    <a:solidFill>
                      <a:schemeClr val="tx1"/>
                    </a:solidFill>
                  </a:tcPr>
                </a:tc>
                <a:tc hMerge="1">
                  <a:txBody>
                    <a:bodyPr/>
                    <a:lstStyle/>
                    <a:p>
                      <a:endParaRPr lang="en-US" sz="2400">
                        <a:solidFill>
                          <a:srgbClr val="1F3A4E"/>
                        </a:solidFill>
                      </a:endParaRPr>
                    </a:p>
                  </a:txBody>
                  <a:tcPr marL="182880" marT="137160">
                    <a:blipFill rotWithShape="1">
                      <a:blip r:embed="rId10"/>
                      <a:stretch>
                        <a:fillRect/>
                      </a:stretch>
                    </a:blipFill>
                  </a:tcPr>
                </a:tc>
                <a:tc hMerge="1">
                  <a:txBody>
                    <a:bodyPr/>
                    <a:lstStyle/>
                    <a:p>
                      <a:endParaRPr lang="en-US"/>
                    </a:p>
                  </a:txBody>
                  <a:tcPr marL="182880" marT="137160">
                    <a:solidFill>
                      <a:srgbClr val="010101"/>
                    </a:solidFill>
                  </a:tcPr>
                </a:tc>
                <a:extLst>
                  <a:ext uri="{0D108BD9-81ED-4DB2-BD59-A6C34878D82A}">
                    <a16:rowId xmlns:a16="http://schemas.microsoft.com/office/drawing/2014/main" val="10004"/>
                  </a:ext>
                </a:extLst>
              </a:tr>
              <a:tr h="345138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600" noProof="0">
                        <a:solidFill>
                          <a:srgbClr val="D9D9D9"/>
                        </a:solidFill>
                        <a:latin typeface="Arial" panose="020B0604020202020204" pitchFamily="34" charset="0"/>
                        <a:cs typeface="Arial" panose="020B0604020202020204" pitchFamily="34" charset="0"/>
                      </a:endParaRPr>
                    </a:p>
                  </a:txBody>
                  <a:tcPr marL="68580" marR="68580" marT="30480" marB="3048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9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a:solidFill>
                            <a:srgbClr val="D9D9D9"/>
                          </a:solidFill>
                          <a:latin typeface="Arial" panose="020B0604020202020204" pitchFamily="34" charset="0"/>
                          <a:cs typeface="Arial" panose="020B0604020202020204" pitchFamily="34" charset="0"/>
                        </a:rPr>
                        <a:t>The Quick Start</a:t>
                      </a:r>
                      <a:r>
                        <a:rPr lang="en-US" sz="1600" baseline="0" noProof="0">
                          <a:solidFill>
                            <a:srgbClr val="D9D9D9"/>
                          </a:solidFill>
                          <a:latin typeface="Arial" panose="020B0604020202020204" pitchFamily="34" charset="0"/>
                          <a:cs typeface="Arial" panose="020B0604020202020204" pitchFamily="34" charset="0"/>
                        </a:rPr>
                        <a:t> Guides</a:t>
                      </a:r>
                      <a:r>
                        <a:rPr lang="en-US" sz="1600" noProof="0">
                          <a:solidFill>
                            <a:srgbClr val="D9D9D9"/>
                          </a:solidFill>
                          <a:latin typeface="Arial" panose="020B0604020202020204" pitchFamily="34" charset="0"/>
                          <a:cs typeface="Arial" panose="020B0604020202020204" pitchFamily="34" charset="0"/>
                        </a:rPr>
                        <a:t> </a:t>
                      </a:r>
                      <a:r>
                        <a:rPr lang="en-US" sz="1600" u="sng" noProof="0">
                          <a:solidFill>
                            <a:srgbClr val="D9D9D9"/>
                          </a:solidFill>
                          <a:latin typeface="Arial" panose="020B0604020202020204" pitchFamily="34" charset="0"/>
                          <a:cs typeface="Arial" panose="020B0604020202020204" pitchFamily="34" charset="0"/>
                        </a:rPr>
                        <a:t>are outside the template’s printable area</a:t>
                      </a:r>
                      <a:r>
                        <a:rPr lang="en-US" sz="1600" noProof="0">
                          <a:solidFill>
                            <a:srgbClr val="D9D9D9"/>
                          </a:solidFill>
                          <a:latin typeface="Arial" panose="020B0604020202020204" pitchFamily="34" charset="0"/>
                          <a:cs typeface="Arial" panose="020B0604020202020204" pitchFamily="34" charset="0"/>
                        </a:rPr>
                        <a:t> and they will not be on the printed poster</a:t>
                      </a:r>
                      <a:r>
                        <a:rPr lang="en-US" sz="16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aseline="0" noProof="0">
                          <a:solidFill>
                            <a:srgbClr val="D9D9D9"/>
                          </a:solidFill>
                          <a:latin typeface="Arial" panose="020B0604020202020204" pitchFamily="34" charset="0"/>
                          <a:cs typeface="Arial" panose="020B0604020202020204" pitchFamily="34" charset="0"/>
                        </a:rPr>
                        <a:t>To hide the guides click on the </a:t>
                      </a:r>
                      <a:r>
                        <a:rPr lang="en-US" sz="1600" b="1" baseline="0" noProof="0">
                          <a:solidFill>
                            <a:srgbClr val="D9D9D9"/>
                          </a:solidFill>
                          <a:latin typeface="Arial" panose="020B0604020202020204" pitchFamily="34" charset="0"/>
                          <a:cs typeface="Arial" panose="020B0604020202020204" pitchFamily="34" charset="0"/>
                        </a:rPr>
                        <a:t>Home</a:t>
                      </a:r>
                      <a:r>
                        <a:rPr lang="en-US" sz="16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600" b="1" baseline="0" noProof="0">
                          <a:solidFill>
                            <a:srgbClr val="D9D9D9"/>
                          </a:solidFill>
                          <a:latin typeface="Arial" panose="020B0604020202020204" pitchFamily="34" charset="0"/>
                          <a:cs typeface="Arial" panose="020B0604020202020204" pitchFamily="34" charset="0"/>
                        </a:rPr>
                        <a:t>Layout</a:t>
                      </a:r>
                      <a:r>
                        <a:rPr lang="en-US" sz="16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600" b="1" baseline="0" noProof="0">
                          <a:solidFill>
                            <a:srgbClr val="D9D9D9"/>
                          </a:solidFill>
                          <a:latin typeface="Arial" panose="020B0604020202020204" pitchFamily="34" charset="0"/>
                          <a:cs typeface="Arial" panose="020B0604020202020204" pitchFamily="34" charset="0"/>
                        </a:rPr>
                        <a:t>Without Guides </a:t>
                      </a:r>
                      <a:r>
                        <a:rPr lang="en-US" sz="1600" b="0" baseline="0" noProof="0">
                          <a:solidFill>
                            <a:srgbClr val="D9D9D9"/>
                          </a:solidFill>
                          <a:latin typeface="Arial" panose="020B0604020202020204" pitchFamily="34" charset="0"/>
                          <a:cs typeface="Arial" panose="020B0604020202020204" pitchFamily="34" charset="0"/>
                        </a:rPr>
                        <a:t>layout</a:t>
                      </a:r>
                      <a:r>
                        <a:rPr lang="en-US" sz="1600" baseline="0" noProof="0">
                          <a:solidFill>
                            <a:srgbClr val="D9D9D9"/>
                          </a:solidFill>
                          <a:latin typeface="Arial" panose="020B0604020202020204" pitchFamily="34" charset="0"/>
                          <a:cs typeface="Arial" panose="020B0604020202020204" pitchFamily="34" charset="0"/>
                        </a:rPr>
                        <a:t>.</a:t>
                      </a:r>
                      <a:endParaRPr lang="en-US" sz="160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noProof="0">
                        <a:solidFill>
                          <a:srgbClr val="D9D9D9"/>
                        </a:solidFill>
                        <a:latin typeface="Arial" panose="020B0604020202020204" pitchFamily="34" charset="0"/>
                        <a:cs typeface="Arial" panose="020B0604020202020204" pitchFamily="34" charset="0"/>
                      </a:endParaRPr>
                    </a:p>
                  </a:txBody>
                  <a:tcPr marL="68580" marR="68580" marT="30480" marB="30480">
                    <a:solidFill>
                      <a:srgbClr val="010101"/>
                    </a:solidFill>
                  </a:tcPr>
                </a:tc>
                <a:extLst>
                  <a:ext uri="{0D108BD9-81ED-4DB2-BD59-A6C34878D82A}">
                    <a16:rowId xmlns:a16="http://schemas.microsoft.com/office/drawing/2014/main" val="10005"/>
                  </a:ext>
                </a:extLst>
              </a:tr>
              <a:tr h="192555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600" noProof="0">
                        <a:solidFill>
                          <a:srgbClr val="D9D9D9"/>
                        </a:solidFill>
                        <a:latin typeface="Arial" panose="020B0604020202020204" pitchFamily="34" charset="0"/>
                        <a:cs typeface="Arial" panose="020B0604020202020204" pitchFamily="34" charset="0"/>
                      </a:endParaRPr>
                    </a:p>
                  </a:txBody>
                  <a:tcPr marL="68580" marR="68580" marT="30480" marB="3048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2520951">
                <a:tc gridSpan="2">
                  <a:txBody>
                    <a:bodyPr/>
                    <a:lstStyle/>
                    <a:p>
                      <a:r>
                        <a:rPr lang="en-US" sz="1900" b="1">
                          <a:solidFill>
                            <a:srgbClr val="FFC000"/>
                          </a:solidFill>
                          <a:latin typeface="Arial" panose="020B0604020202020204" pitchFamily="34" charset="0"/>
                          <a:cs typeface="Arial" panose="020B0604020202020204" pitchFamily="34" charset="0"/>
                        </a:rPr>
                        <a:t>How to</a:t>
                      </a:r>
                      <a:r>
                        <a:rPr lang="en-US" sz="1900" b="1" baseline="0">
                          <a:solidFill>
                            <a:srgbClr val="FFC000"/>
                          </a:solidFill>
                          <a:latin typeface="Arial" panose="020B0604020202020204" pitchFamily="34" charset="0"/>
                          <a:cs typeface="Arial" panose="020B0604020202020204" pitchFamily="34" charset="0"/>
                        </a:rPr>
                        <a:t> preview your poster prior to printing</a:t>
                      </a:r>
                      <a:endParaRPr lang="en-US" sz="1900" b="1">
                        <a:solidFill>
                          <a:srgbClr val="FFC000"/>
                        </a:solidFill>
                        <a:latin typeface="Arial" panose="020B0604020202020204" pitchFamily="34" charset="0"/>
                        <a:cs typeface="Arial" panose="020B0604020202020204" pitchFamily="34" charset="0"/>
                      </a:endParaRPr>
                    </a:p>
                    <a:p>
                      <a:r>
                        <a:rPr lang="en-US" sz="1600">
                          <a:solidFill>
                            <a:srgbClr val="D9D9D9"/>
                          </a:solidFill>
                          <a:latin typeface="Arial" panose="020B0604020202020204" pitchFamily="34" charset="0"/>
                          <a:cs typeface="Arial" panose="020B0604020202020204" pitchFamily="34" charset="0"/>
                        </a:rPr>
                        <a:t>You can preview your poster at any time by pressing the </a:t>
                      </a:r>
                      <a:r>
                        <a:rPr lang="en-US" sz="1600">
                          <a:solidFill>
                            <a:srgbClr val="FFC000"/>
                          </a:solidFill>
                          <a:latin typeface="Arial" panose="020B0604020202020204" pitchFamily="34" charset="0"/>
                          <a:cs typeface="Arial" panose="020B0604020202020204" pitchFamily="34" charset="0"/>
                        </a:rPr>
                        <a:t>F5 key</a:t>
                      </a:r>
                      <a:r>
                        <a:rPr lang="en-US" sz="160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600">
                          <a:solidFill>
                            <a:srgbClr val="FFC000"/>
                          </a:solidFill>
                          <a:latin typeface="Arial" panose="020B0604020202020204" pitchFamily="34" charset="0"/>
                          <a:cs typeface="Arial" panose="020B0604020202020204" pitchFamily="34" charset="0"/>
                        </a:rPr>
                        <a:t>ESC key </a:t>
                      </a:r>
                      <a:r>
                        <a:rPr lang="en-US" sz="1600">
                          <a:solidFill>
                            <a:srgbClr val="D9D9D9"/>
                          </a:solidFill>
                          <a:latin typeface="Arial" panose="020B0604020202020204" pitchFamily="34" charset="0"/>
                          <a:cs typeface="Arial" panose="020B0604020202020204" pitchFamily="34" charset="0"/>
                        </a:rPr>
                        <a:t>to exit Preview.</a:t>
                      </a:r>
                    </a:p>
                  </a:txBody>
                  <a:tcPr marL="68580" marR="68580" marT="30480" marB="30480">
                    <a:solidFill>
                      <a:srgbClr val="010101"/>
                    </a:solidFill>
                  </a:tcPr>
                </a:tc>
                <a:tc hMerge="1">
                  <a:txBody>
                    <a:bodyPr/>
                    <a:lstStyle/>
                    <a:p>
                      <a:endParaRPr lang="en-US"/>
                    </a:p>
                  </a:txBody>
                  <a:tcPr/>
                </a:tc>
                <a:tc>
                  <a:txBody>
                    <a:bodyPr/>
                    <a:lstStyle/>
                    <a:p>
                      <a:pPr algn="ctr"/>
                      <a:r>
                        <a:rPr lang="en-US" sz="7700" b="1">
                          <a:solidFill>
                            <a:srgbClr val="D9D9D9"/>
                          </a:solidFill>
                          <a:latin typeface="Arial" panose="020B0604020202020204" pitchFamily="34" charset="0"/>
                          <a:cs typeface="Arial" panose="020B0604020202020204" pitchFamily="34" charset="0"/>
                        </a:rPr>
                        <a:t>F5</a:t>
                      </a:r>
                      <a:r>
                        <a:rPr lang="en-US" sz="1600" baseline="0">
                          <a:solidFill>
                            <a:srgbClr val="D9D9D9"/>
                          </a:solidFill>
                          <a:latin typeface="Arial" panose="020B0604020202020204" pitchFamily="34" charset="0"/>
                          <a:cs typeface="Arial" panose="020B0604020202020204" pitchFamily="34" charset="0"/>
                        </a:rPr>
                        <a:t> </a:t>
                      </a:r>
                      <a:endParaRPr lang="en-US" sz="5700"/>
                    </a:p>
                  </a:txBody>
                  <a:tcPr marL="137160" marR="68580" marT="91440" marB="30480" anchor="ctr">
                    <a:solidFill>
                      <a:schemeClr val="tx1">
                        <a:lumMod val="95000"/>
                        <a:lumOff val="5000"/>
                      </a:schemeClr>
                    </a:solidFill>
                  </a:tcPr>
                </a:tc>
                <a:extLst>
                  <a:ext uri="{0D108BD9-81ED-4DB2-BD59-A6C34878D82A}">
                    <a16:rowId xmlns:a16="http://schemas.microsoft.com/office/drawing/2014/main" val="10006"/>
                  </a:ext>
                </a:extLst>
              </a:tr>
              <a:tr h="3782673">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900" b="1" noProof="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a:solidFill>
                            <a:srgbClr val="D9D9D9"/>
                          </a:solidFill>
                          <a:latin typeface="Arial"/>
                          <a:cs typeface="Arial"/>
                        </a:rPr>
                        <a:t>When you are ready to have your poster printed go online to </a:t>
                      </a:r>
                      <a:r>
                        <a:rPr lang="en-US" sz="1600" noProof="0" err="1">
                          <a:solidFill>
                            <a:srgbClr val="FFC000"/>
                          </a:solidFill>
                          <a:latin typeface="Arial"/>
                          <a:cs typeface="Arial"/>
                        </a:rPr>
                        <a:t>PosterPresentations.com</a:t>
                      </a:r>
                      <a:r>
                        <a:rPr lang="en-US" sz="1600" noProof="0">
                          <a:solidFill>
                            <a:srgbClr val="D9D9D9"/>
                          </a:solidFill>
                          <a:latin typeface="Arial"/>
                          <a:cs typeface="Arial"/>
                        </a:rPr>
                        <a:t> and click on the "</a:t>
                      </a:r>
                      <a:r>
                        <a:rPr lang="en-US" sz="1600" noProof="0">
                          <a:solidFill>
                            <a:srgbClr val="FFC000"/>
                          </a:solidFill>
                          <a:latin typeface="Arial"/>
                          <a:cs typeface="Arial"/>
                        </a:rPr>
                        <a:t>Order Your Poster</a:t>
                      </a:r>
                      <a:r>
                        <a:rPr lang="en-US" sz="1600" noProof="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noProof="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600" noProof="0">
                          <a:solidFill>
                            <a:srgbClr val="D9D9D9"/>
                          </a:solidFill>
                          <a:latin typeface="Arial"/>
                          <a:cs typeface="Arial"/>
                        </a:rPr>
                      </a:br>
                      <a:r>
                        <a:rPr lang="en-US" sz="1600" noProof="0">
                          <a:solidFill>
                            <a:srgbClr val="D9D9D9"/>
                          </a:solidFill>
                          <a:latin typeface="Arial"/>
                          <a:cs typeface="Arial"/>
                        </a:rPr>
                        <a:t>Go to </a:t>
                      </a:r>
                      <a:r>
                        <a:rPr lang="en-US" sz="1600" noProof="0" err="1">
                          <a:solidFill>
                            <a:srgbClr val="FFC000"/>
                          </a:solidFill>
                          <a:latin typeface="Arial"/>
                          <a:cs typeface="Arial"/>
                        </a:rPr>
                        <a:t>PosterPresentations.com</a:t>
                      </a:r>
                      <a:r>
                        <a:rPr lang="en-US" sz="1600" noProof="0">
                          <a:solidFill>
                            <a:srgbClr val="D9D9D9"/>
                          </a:solidFill>
                          <a:latin typeface="Arial"/>
                          <a:cs typeface="Arial"/>
                        </a:rPr>
                        <a:t> for more information.</a:t>
                      </a:r>
                    </a:p>
                  </a:txBody>
                  <a:tcPr marL="68580" marR="68580" marT="30480" marB="3048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903185">
                <a:tc gridSpan="3">
                  <a:txBody>
                    <a:bodyPr/>
                    <a:lstStyle/>
                    <a:p>
                      <a:endParaRPr lang="en-US" sz="1600">
                        <a:solidFill>
                          <a:srgbClr val="1F3A4E"/>
                        </a:solidFill>
                      </a:endParaRPr>
                    </a:p>
                  </a:txBody>
                  <a:tcPr marL="68580" marR="68580" marT="30480" marB="30480">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141469">
                <a:tc>
                  <a:txBody>
                    <a:bodyPr/>
                    <a:lstStyle/>
                    <a:p>
                      <a:pPr>
                        <a:lnSpc>
                          <a:spcPts val="2600"/>
                        </a:lnSpc>
                      </a:pPr>
                      <a:r>
                        <a:rPr lang="en-US" sz="1300">
                          <a:solidFill>
                            <a:schemeClr val="bg1">
                              <a:lumMod val="85000"/>
                            </a:schemeClr>
                          </a:solidFill>
                          <a:latin typeface="Arial"/>
                          <a:cs typeface="Arial"/>
                        </a:rPr>
                        <a:t>© 2019</a:t>
                      </a:r>
                      <a:r>
                        <a:rPr lang="en-US" sz="1300" baseline="0">
                          <a:solidFill>
                            <a:schemeClr val="bg1">
                              <a:lumMod val="85000"/>
                            </a:schemeClr>
                          </a:solidFill>
                          <a:latin typeface="Arial"/>
                          <a:cs typeface="Arial"/>
                        </a:rPr>
                        <a:t> </a:t>
                      </a:r>
                      <a:r>
                        <a:rPr lang="en-US" sz="1300" err="1">
                          <a:solidFill>
                            <a:schemeClr val="bg1">
                              <a:lumMod val="85000"/>
                            </a:schemeClr>
                          </a:solidFill>
                          <a:latin typeface="Arial"/>
                          <a:cs typeface="Arial"/>
                        </a:rPr>
                        <a:t>PosterPresentations.com</a:t>
                      </a:r>
                      <a:br>
                        <a:rPr lang="en-US" sz="1300">
                          <a:solidFill>
                            <a:schemeClr val="bg1">
                              <a:lumMod val="85000"/>
                            </a:schemeClr>
                          </a:solidFill>
                          <a:latin typeface="Arial"/>
                          <a:cs typeface="Arial"/>
                        </a:rPr>
                      </a:br>
                      <a:r>
                        <a:rPr lang="en-US" sz="1300">
                          <a:solidFill>
                            <a:schemeClr val="bg1">
                              <a:lumMod val="85000"/>
                            </a:schemeClr>
                          </a:solidFill>
                          <a:latin typeface="Arial"/>
                          <a:cs typeface="Arial"/>
                        </a:rPr>
                        <a:t>2117 Fourth Street ,</a:t>
                      </a:r>
                      <a:r>
                        <a:rPr lang="en-US" sz="1300" baseline="0">
                          <a:solidFill>
                            <a:schemeClr val="bg1">
                              <a:lumMod val="85000"/>
                            </a:schemeClr>
                          </a:solidFill>
                          <a:latin typeface="Arial"/>
                          <a:cs typeface="Arial"/>
                        </a:rPr>
                        <a:t> STE C        </a:t>
                      </a:r>
                    </a:p>
                    <a:p>
                      <a:pPr>
                        <a:lnSpc>
                          <a:spcPts val="2600"/>
                        </a:lnSpc>
                      </a:pPr>
                      <a:r>
                        <a:rPr lang="en-US" sz="1300" baseline="0">
                          <a:solidFill>
                            <a:schemeClr val="bg1">
                              <a:lumMod val="85000"/>
                            </a:schemeClr>
                          </a:solidFill>
                          <a:latin typeface="Arial"/>
                          <a:cs typeface="Arial"/>
                        </a:rPr>
                        <a:t>Berkeley CA 94710 USA</a:t>
                      </a:r>
                      <a:endParaRPr lang="en-US" sz="1300">
                        <a:solidFill>
                          <a:schemeClr val="bg1">
                            <a:lumMod val="85000"/>
                          </a:schemeClr>
                        </a:solidFill>
                        <a:latin typeface="Arial"/>
                        <a:cs typeface="Arial"/>
                      </a:endParaRPr>
                    </a:p>
                  </a:txBody>
                  <a:tcPr marL="137160" marR="68580" marT="91440" marB="3048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600" b="1">
                          <a:solidFill>
                            <a:srgbClr val="D0D0D0"/>
                          </a:solidFill>
                          <a:latin typeface="Arial"/>
                          <a:cs typeface="Arial"/>
                        </a:rPr>
                        <a:t>For complete tutorials</a:t>
                      </a:r>
                      <a:r>
                        <a:rPr lang="en-US" sz="1600" b="1" baseline="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200" b="1">
                          <a:solidFill>
                            <a:srgbClr val="FFC000"/>
                          </a:solidFill>
                          <a:latin typeface="Arial"/>
                          <a:cs typeface="Arial"/>
                        </a:rPr>
                        <a:t>https://</a:t>
                      </a:r>
                      <a:r>
                        <a:rPr lang="en-US" sz="1200" b="1" err="1">
                          <a:solidFill>
                            <a:srgbClr val="FFC000"/>
                          </a:solidFill>
                          <a:latin typeface="Arial"/>
                          <a:cs typeface="Arial"/>
                        </a:rPr>
                        <a:t>www.posterpresentations.com</a:t>
                      </a:r>
                      <a:r>
                        <a:rPr lang="en-US" sz="1200" b="1">
                          <a:solidFill>
                            <a:srgbClr val="FFC000"/>
                          </a:solidFill>
                          <a:latin typeface="Arial"/>
                          <a:cs typeface="Arial"/>
                        </a:rPr>
                        <a:t>/</a:t>
                      </a:r>
                      <a:r>
                        <a:rPr lang="en-US" sz="1200" b="1" err="1">
                          <a:solidFill>
                            <a:srgbClr val="FFC000"/>
                          </a:solidFill>
                          <a:latin typeface="Arial"/>
                          <a:cs typeface="Arial"/>
                        </a:rPr>
                        <a:t>helpdesk.html</a:t>
                      </a:r>
                      <a:endParaRPr lang="en-US" sz="1200">
                        <a:solidFill>
                          <a:schemeClr val="bg1">
                            <a:lumMod val="85000"/>
                          </a:schemeClr>
                        </a:solidFill>
                        <a:latin typeface="Arial"/>
                        <a:cs typeface="Arial"/>
                      </a:endParaRPr>
                    </a:p>
                  </a:txBody>
                  <a:tcPr marL="68580" marR="68580" marT="30480" marB="3048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35" name="Text Box 14">
            <a:extLst>
              <a:ext uri="{FF2B5EF4-FFF2-40B4-BE49-F238E27FC236}">
                <a16:creationId xmlns:a16="http://schemas.microsoft.com/office/drawing/2014/main" id="{3FFCB1CF-053D-954E-8947-A06DFECB49EC}"/>
              </a:ext>
            </a:extLst>
          </p:cNvPr>
          <p:cNvSpPr txBox="1">
            <a:spLocks noChangeArrowheads="1"/>
          </p:cNvSpPr>
          <p:nvPr userDrawn="1"/>
        </p:nvSpPr>
        <p:spPr bwMode="auto">
          <a:xfrm>
            <a:off x="846295" y="21314625"/>
            <a:ext cx="1885950" cy="227560"/>
          </a:xfrm>
          <a:prstGeom prst="rect">
            <a:avLst/>
          </a:prstGeom>
          <a:noFill/>
          <a:ln w="9525">
            <a:noFill/>
            <a:miter lim="800000"/>
            <a:headEnd/>
            <a:tailEnd/>
          </a:ln>
          <a:effectLst/>
        </p:spPr>
        <p:txBody>
          <a:bodyPr wrap="square" lIns="60842" tIns="30415" rIns="60842" bIns="30415">
            <a:spAutoFit/>
          </a:bodyPr>
          <a:lstStyle/>
          <a:p>
            <a:pPr eaLnBrk="0" hangingPunct="0">
              <a:lnSpc>
                <a:spcPct val="65000"/>
              </a:lnSpc>
              <a:spcBef>
                <a:spcPct val="50000"/>
              </a:spcBef>
              <a:defRPr/>
            </a:pPr>
            <a:r>
              <a:rPr lang="en-US" sz="333" b="1">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733" b="1">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2" r:id="rId1"/>
    <p:sldLayoutId id="2147483680" r:id="rId2"/>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0B91B61-1BF7-CF4F-A115-F49A79331A94}"/>
              </a:ext>
            </a:extLst>
          </p:cNvPr>
          <p:cNvSpPr/>
          <p:nvPr userDrawn="1"/>
        </p:nvSpPr>
        <p:spPr>
          <a:xfrm rot="10800000">
            <a:off x="0" y="20910324"/>
            <a:ext cx="32918400" cy="10331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734"/>
          </a:p>
        </p:txBody>
      </p:sp>
      <p:sp>
        <p:nvSpPr>
          <p:cNvPr id="6" name="Rectangle 5">
            <a:extLst>
              <a:ext uri="{FF2B5EF4-FFF2-40B4-BE49-F238E27FC236}">
                <a16:creationId xmlns:a16="http://schemas.microsoft.com/office/drawing/2014/main" id="{33DC4674-0CF7-354A-A116-FE36983B2F8A}"/>
              </a:ext>
            </a:extLst>
          </p:cNvPr>
          <p:cNvSpPr/>
          <p:nvPr userDrawn="1"/>
        </p:nvSpPr>
        <p:spPr>
          <a:xfrm>
            <a:off x="0" y="1"/>
            <a:ext cx="32918400" cy="29951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734"/>
          </a:p>
        </p:txBody>
      </p:sp>
      <p:sp>
        <p:nvSpPr>
          <p:cNvPr id="7" name="Text Box 14">
            <a:extLst>
              <a:ext uri="{FF2B5EF4-FFF2-40B4-BE49-F238E27FC236}">
                <a16:creationId xmlns:a16="http://schemas.microsoft.com/office/drawing/2014/main" id="{DE33BC39-810B-224F-8803-2E61979327C9}"/>
              </a:ext>
            </a:extLst>
          </p:cNvPr>
          <p:cNvSpPr txBox="1">
            <a:spLocks noChangeArrowheads="1"/>
          </p:cNvSpPr>
          <p:nvPr userDrawn="1"/>
        </p:nvSpPr>
        <p:spPr bwMode="auto">
          <a:xfrm>
            <a:off x="846295" y="21314625"/>
            <a:ext cx="1885950" cy="227560"/>
          </a:xfrm>
          <a:prstGeom prst="rect">
            <a:avLst/>
          </a:prstGeom>
          <a:noFill/>
          <a:ln w="9525">
            <a:noFill/>
            <a:miter lim="800000"/>
            <a:headEnd/>
            <a:tailEnd/>
          </a:ln>
          <a:effectLst/>
        </p:spPr>
        <p:txBody>
          <a:bodyPr wrap="square" lIns="60842" tIns="30415" rIns="60842" bIns="30415">
            <a:spAutoFit/>
          </a:bodyPr>
          <a:lstStyle/>
          <a:p>
            <a:pPr eaLnBrk="0" hangingPunct="0">
              <a:lnSpc>
                <a:spcPct val="65000"/>
              </a:lnSpc>
              <a:spcBef>
                <a:spcPct val="50000"/>
              </a:spcBef>
              <a:defRPr/>
            </a:pPr>
            <a:r>
              <a:rPr lang="en-US" sz="333" b="1">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733" b="1">
                <a:solidFill>
                  <a:schemeClr val="bg1">
                    <a:lumMod val="75000"/>
                  </a:schemeClr>
                </a:solidFill>
                <a:latin typeface="Arial" charset="0"/>
              </a:rPr>
              <a:t>www.PosterPresentations.com</a:t>
            </a:r>
          </a:p>
        </p:txBody>
      </p:sp>
      <p:sp>
        <p:nvSpPr>
          <p:cNvPr id="8" name="Text Placeholder 3">
            <a:extLst>
              <a:ext uri="{FF2B5EF4-FFF2-40B4-BE49-F238E27FC236}">
                <a16:creationId xmlns:a16="http://schemas.microsoft.com/office/drawing/2014/main" id="{5DD732AC-3E9E-AA4A-B182-B91BD39117A4}"/>
              </a:ext>
            </a:extLst>
          </p:cNvPr>
          <p:cNvSpPr txBox="1">
            <a:spLocks/>
          </p:cNvSpPr>
          <p:nvPr userDrawn="1"/>
        </p:nvSpPr>
        <p:spPr>
          <a:xfrm>
            <a:off x="344756" y="4252321"/>
            <a:ext cx="7542610"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9" name="Text Placeholder 5">
            <a:extLst>
              <a:ext uri="{FF2B5EF4-FFF2-40B4-BE49-F238E27FC236}">
                <a16:creationId xmlns:a16="http://schemas.microsoft.com/office/drawing/2014/main" id="{609F4039-E820-734C-ADDF-D84CC5DAE2AE}"/>
              </a:ext>
            </a:extLst>
          </p:cNvPr>
          <p:cNvSpPr txBox="1">
            <a:spLocks/>
          </p:cNvSpPr>
          <p:nvPr userDrawn="1"/>
        </p:nvSpPr>
        <p:spPr>
          <a:xfrm>
            <a:off x="358371" y="3699135"/>
            <a:ext cx="7536656"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INTRODUCTION or ABSTRACT</a:t>
            </a:r>
          </a:p>
        </p:txBody>
      </p:sp>
      <p:sp>
        <p:nvSpPr>
          <p:cNvPr id="11" name="Text Placeholder 5">
            <a:extLst>
              <a:ext uri="{FF2B5EF4-FFF2-40B4-BE49-F238E27FC236}">
                <a16:creationId xmlns:a16="http://schemas.microsoft.com/office/drawing/2014/main" id="{9E0C7155-99EC-7148-984A-9AED97984EBE}"/>
              </a:ext>
            </a:extLst>
          </p:cNvPr>
          <p:cNvSpPr txBox="1">
            <a:spLocks/>
          </p:cNvSpPr>
          <p:nvPr userDrawn="1"/>
        </p:nvSpPr>
        <p:spPr>
          <a:xfrm>
            <a:off x="358369" y="9474977"/>
            <a:ext cx="7537847"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OBJECTIVES</a:t>
            </a:r>
          </a:p>
        </p:txBody>
      </p:sp>
      <p:sp>
        <p:nvSpPr>
          <p:cNvPr id="12" name="Text Placeholder 3">
            <a:extLst>
              <a:ext uri="{FF2B5EF4-FFF2-40B4-BE49-F238E27FC236}">
                <a16:creationId xmlns:a16="http://schemas.microsoft.com/office/drawing/2014/main" id="{FD6EF4D6-BCDF-0E4D-8328-4D5259E0E1AF}"/>
              </a:ext>
            </a:extLst>
          </p:cNvPr>
          <p:cNvSpPr txBox="1">
            <a:spLocks/>
          </p:cNvSpPr>
          <p:nvPr userDrawn="1"/>
        </p:nvSpPr>
        <p:spPr>
          <a:xfrm>
            <a:off x="8595121" y="4252321"/>
            <a:ext cx="7536656"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13" name="Text Placeholder 5">
            <a:extLst>
              <a:ext uri="{FF2B5EF4-FFF2-40B4-BE49-F238E27FC236}">
                <a16:creationId xmlns:a16="http://schemas.microsoft.com/office/drawing/2014/main" id="{F03D84C9-4789-2645-A0D4-1041D18D8A3D}"/>
              </a:ext>
            </a:extLst>
          </p:cNvPr>
          <p:cNvSpPr txBox="1">
            <a:spLocks/>
          </p:cNvSpPr>
          <p:nvPr userDrawn="1"/>
        </p:nvSpPr>
        <p:spPr>
          <a:xfrm>
            <a:off x="8595122" y="3699135"/>
            <a:ext cx="7536656"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MATERIALS &amp; METHODS</a:t>
            </a:r>
          </a:p>
        </p:txBody>
      </p:sp>
      <p:sp>
        <p:nvSpPr>
          <p:cNvPr id="14" name="Text Placeholder 3">
            <a:extLst>
              <a:ext uri="{FF2B5EF4-FFF2-40B4-BE49-F238E27FC236}">
                <a16:creationId xmlns:a16="http://schemas.microsoft.com/office/drawing/2014/main" id="{48B0F29A-1496-164F-B7A8-A71F3831EAD6}"/>
              </a:ext>
            </a:extLst>
          </p:cNvPr>
          <p:cNvSpPr txBox="1">
            <a:spLocks/>
          </p:cNvSpPr>
          <p:nvPr userDrawn="1"/>
        </p:nvSpPr>
        <p:spPr>
          <a:xfrm>
            <a:off x="16789007" y="4252321"/>
            <a:ext cx="7536656"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15" name="Text Placeholder 5">
            <a:extLst>
              <a:ext uri="{FF2B5EF4-FFF2-40B4-BE49-F238E27FC236}">
                <a16:creationId xmlns:a16="http://schemas.microsoft.com/office/drawing/2014/main" id="{F8EF562C-EBD7-054A-A2AC-2878C2B07911}"/>
              </a:ext>
            </a:extLst>
          </p:cNvPr>
          <p:cNvSpPr txBox="1">
            <a:spLocks/>
          </p:cNvSpPr>
          <p:nvPr userDrawn="1"/>
        </p:nvSpPr>
        <p:spPr>
          <a:xfrm>
            <a:off x="16783053" y="3699135"/>
            <a:ext cx="7543800"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RESULTS</a:t>
            </a:r>
          </a:p>
        </p:txBody>
      </p:sp>
      <p:sp>
        <p:nvSpPr>
          <p:cNvPr id="16" name="Text Placeholder 5">
            <a:extLst>
              <a:ext uri="{FF2B5EF4-FFF2-40B4-BE49-F238E27FC236}">
                <a16:creationId xmlns:a16="http://schemas.microsoft.com/office/drawing/2014/main" id="{6EBFD6E6-D930-EE40-8FC7-D76AF1D0E745}"/>
              </a:ext>
            </a:extLst>
          </p:cNvPr>
          <p:cNvSpPr txBox="1">
            <a:spLocks/>
          </p:cNvSpPr>
          <p:nvPr userDrawn="1"/>
        </p:nvSpPr>
        <p:spPr>
          <a:xfrm>
            <a:off x="25042719" y="3699135"/>
            <a:ext cx="7535264"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CONCLUSIONS</a:t>
            </a:r>
          </a:p>
        </p:txBody>
      </p:sp>
      <p:sp>
        <p:nvSpPr>
          <p:cNvPr id="17" name="Text Placeholder 3">
            <a:extLst>
              <a:ext uri="{FF2B5EF4-FFF2-40B4-BE49-F238E27FC236}">
                <a16:creationId xmlns:a16="http://schemas.microsoft.com/office/drawing/2014/main" id="{802A46EB-776F-BF46-A88D-CF9AB67DA71E}"/>
              </a:ext>
            </a:extLst>
          </p:cNvPr>
          <p:cNvSpPr txBox="1">
            <a:spLocks/>
          </p:cNvSpPr>
          <p:nvPr userDrawn="1"/>
        </p:nvSpPr>
        <p:spPr>
          <a:xfrm>
            <a:off x="25042719" y="4252321"/>
            <a:ext cx="7535264"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18" name="Text Placeholder 5">
            <a:extLst>
              <a:ext uri="{FF2B5EF4-FFF2-40B4-BE49-F238E27FC236}">
                <a16:creationId xmlns:a16="http://schemas.microsoft.com/office/drawing/2014/main" id="{25460E65-74E6-8846-A727-BB6BBAD071AE}"/>
              </a:ext>
            </a:extLst>
          </p:cNvPr>
          <p:cNvSpPr txBox="1">
            <a:spLocks/>
          </p:cNvSpPr>
          <p:nvPr userDrawn="1"/>
        </p:nvSpPr>
        <p:spPr>
          <a:xfrm>
            <a:off x="25042719" y="9515127"/>
            <a:ext cx="7535264"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REFERENCES</a:t>
            </a:r>
          </a:p>
        </p:txBody>
      </p:sp>
      <p:sp>
        <p:nvSpPr>
          <p:cNvPr id="19" name="Text Placeholder 3">
            <a:extLst>
              <a:ext uri="{FF2B5EF4-FFF2-40B4-BE49-F238E27FC236}">
                <a16:creationId xmlns:a16="http://schemas.microsoft.com/office/drawing/2014/main" id="{4F37FE17-0EC4-9F4C-9A7E-25D1C6169A89}"/>
              </a:ext>
            </a:extLst>
          </p:cNvPr>
          <p:cNvSpPr txBox="1">
            <a:spLocks/>
          </p:cNvSpPr>
          <p:nvPr userDrawn="1"/>
        </p:nvSpPr>
        <p:spPr>
          <a:xfrm>
            <a:off x="25042719" y="10007602"/>
            <a:ext cx="7539038"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20" name="Text Placeholder 5">
            <a:extLst>
              <a:ext uri="{FF2B5EF4-FFF2-40B4-BE49-F238E27FC236}">
                <a16:creationId xmlns:a16="http://schemas.microsoft.com/office/drawing/2014/main" id="{99AB85CB-8CCD-D64F-BB54-7D62FBC4C219}"/>
              </a:ext>
            </a:extLst>
          </p:cNvPr>
          <p:cNvSpPr txBox="1">
            <a:spLocks/>
          </p:cNvSpPr>
          <p:nvPr userDrawn="1"/>
        </p:nvSpPr>
        <p:spPr>
          <a:xfrm>
            <a:off x="25042719" y="17119569"/>
            <a:ext cx="7535264" cy="502760"/>
          </a:xfrm>
          <a:prstGeom prst="rect">
            <a:avLst/>
          </a:prstGeom>
          <a:noFill/>
        </p:spPr>
        <p:txBody>
          <a:bodyPr wrap="square" lIns="60957" tIns="60957" rIns="60957" bIns="60957"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2467"/>
              <a:t>(click to edit)  ACKNOWLEDGEMENTS or  CONTACT</a:t>
            </a:r>
          </a:p>
        </p:txBody>
      </p:sp>
      <p:sp>
        <p:nvSpPr>
          <p:cNvPr id="21" name="Text Placeholder 3">
            <a:extLst>
              <a:ext uri="{FF2B5EF4-FFF2-40B4-BE49-F238E27FC236}">
                <a16:creationId xmlns:a16="http://schemas.microsoft.com/office/drawing/2014/main" id="{13FCCE08-C822-FD48-95EB-FFA5C8601F56}"/>
              </a:ext>
            </a:extLst>
          </p:cNvPr>
          <p:cNvSpPr txBox="1">
            <a:spLocks/>
          </p:cNvSpPr>
          <p:nvPr userDrawn="1"/>
        </p:nvSpPr>
        <p:spPr>
          <a:xfrm>
            <a:off x="25042719" y="17622298"/>
            <a:ext cx="7539038"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22" name="Text Placeholder 3">
            <a:extLst>
              <a:ext uri="{FF2B5EF4-FFF2-40B4-BE49-F238E27FC236}">
                <a16:creationId xmlns:a16="http://schemas.microsoft.com/office/drawing/2014/main" id="{84E05100-FF55-554B-9C62-0172D9F4627E}"/>
              </a:ext>
            </a:extLst>
          </p:cNvPr>
          <p:cNvSpPr txBox="1">
            <a:spLocks/>
          </p:cNvSpPr>
          <p:nvPr userDrawn="1"/>
        </p:nvSpPr>
        <p:spPr>
          <a:xfrm>
            <a:off x="344756" y="9967702"/>
            <a:ext cx="7542610" cy="564308"/>
          </a:xfrm>
          <a:prstGeom prst="rect">
            <a:avLst/>
          </a:prstGeom>
        </p:spPr>
        <p:txBody>
          <a:bodyPr wrap="square" lIns="152393" tIns="152393" rIns="152393" bIns="152393">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667"/>
              <a:t>Type in or paste your text here</a:t>
            </a:r>
          </a:p>
        </p:txBody>
      </p:sp>
      <p:sp>
        <p:nvSpPr>
          <p:cNvPr id="23" name="Text Placeholder 76">
            <a:extLst>
              <a:ext uri="{FF2B5EF4-FFF2-40B4-BE49-F238E27FC236}">
                <a16:creationId xmlns:a16="http://schemas.microsoft.com/office/drawing/2014/main" id="{0F455A0D-C545-4747-8E3B-634B87BC0696}"/>
              </a:ext>
            </a:extLst>
          </p:cNvPr>
          <p:cNvSpPr txBox="1">
            <a:spLocks/>
          </p:cNvSpPr>
          <p:nvPr userDrawn="1"/>
        </p:nvSpPr>
        <p:spPr>
          <a:xfrm>
            <a:off x="4449445" y="2085277"/>
            <a:ext cx="23999226" cy="853440"/>
          </a:xfrm>
          <a:prstGeom prst="rect">
            <a:avLst/>
          </a:prstGeom>
        </p:spPr>
        <p:txBody>
          <a:bodyPr>
            <a:normAutofit/>
          </a:bodyPr>
          <a:lstStyle>
            <a:lvl1pPr marL="0" indent="0" algn="ctr" defTabSz="4388900" rtl="0" eaLnBrk="1" latinLnBrk="0" hangingPunct="1">
              <a:spcBef>
                <a:spcPct val="20000"/>
              </a:spcBef>
              <a:buFontTx/>
              <a:buNone/>
              <a:defRPr sz="5400"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600"/>
              <a:t>Click here to add affiliations</a:t>
            </a:r>
          </a:p>
        </p:txBody>
      </p:sp>
      <p:sp>
        <p:nvSpPr>
          <p:cNvPr id="24" name="Text Placeholder 76">
            <a:extLst>
              <a:ext uri="{FF2B5EF4-FFF2-40B4-BE49-F238E27FC236}">
                <a16:creationId xmlns:a16="http://schemas.microsoft.com/office/drawing/2014/main" id="{007FCA07-B2D2-8D4C-8FC8-0CA2ED81515C}"/>
              </a:ext>
            </a:extLst>
          </p:cNvPr>
          <p:cNvSpPr txBox="1">
            <a:spLocks/>
          </p:cNvSpPr>
          <p:nvPr userDrawn="1"/>
        </p:nvSpPr>
        <p:spPr>
          <a:xfrm>
            <a:off x="4449445" y="1231837"/>
            <a:ext cx="23999226" cy="853440"/>
          </a:xfrm>
          <a:prstGeom prst="rect">
            <a:avLst/>
          </a:prstGeom>
        </p:spPr>
        <p:txBody>
          <a:bodyPr anchor="t" anchorCtr="1">
            <a:normAutofit lnSpcReduction="10000"/>
          </a:bodyPr>
          <a:lstStyle>
            <a:lvl1pPr marL="0" indent="0" algn="ctr" defTabSz="4388900" rtl="0" eaLnBrk="1" latinLnBrk="0" hangingPunct="1">
              <a:spcBef>
                <a:spcPct val="20000"/>
              </a:spcBef>
              <a:buFontTx/>
              <a:buNone/>
              <a:defRPr sz="8000"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5334"/>
              <a:t>Click here to add authors</a:t>
            </a:r>
          </a:p>
        </p:txBody>
      </p:sp>
      <p:sp>
        <p:nvSpPr>
          <p:cNvPr id="25" name="Text Placeholder 76">
            <a:extLst>
              <a:ext uri="{FF2B5EF4-FFF2-40B4-BE49-F238E27FC236}">
                <a16:creationId xmlns:a16="http://schemas.microsoft.com/office/drawing/2014/main" id="{7C518942-3AE3-994C-8E67-4A9277D25E95}"/>
              </a:ext>
            </a:extLst>
          </p:cNvPr>
          <p:cNvSpPr txBox="1">
            <a:spLocks/>
          </p:cNvSpPr>
          <p:nvPr userDrawn="1"/>
        </p:nvSpPr>
        <p:spPr>
          <a:xfrm>
            <a:off x="4449445" y="139854"/>
            <a:ext cx="23999226" cy="1091982"/>
          </a:xfrm>
          <a:prstGeom prst="rect">
            <a:avLst/>
          </a:prstGeom>
        </p:spPr>
        <p:txBody>
          <a:bodyPr anchor="t" anchorCtr="1">
            <a:normAutofit/>
          </a:bodyPr>
          <a:lstStyle>
            <a:lvl1pPr marL="0" indent="0" algn="ctr" defTabSz="4388900" rtl="0" eaLnBrk="1" latinLnBrk="0" hangingPunct="1">
              <a:spcBef>
                <a:spcPct val="20000"/>
              </a:spcBef>
              <a:buFontTx/>
              <a:buNone/>
              <a:defRPr sz="9600" b="1"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400"/>
              <a:t>Click here to add title</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31384A-E981-0946-ADDC-4722A18960F3}"/>
              </a:ext>
            </a:extLst>
          </p:cNvPr>
          <p:cNvSpPr>
            <a:spLocks noGrp="1"/>
          </p:cNvSpPr>
          <p:nvPr>
            <p:ph type="body" sz="quarter" idx="10"/>
          </p:nvPr>
        </p:nvSpPr>
        <p:spPr>
          <a:xfrm>
            <a:off x="460305" y="3863679"/>
            <a:ext cx="8146385" cy="3631749"/>
          </a:xfrm>
        </p:spPr>
        <p:txBody>
          <a:bodyPr wrap="square" lIns="152393" tIns="152393" rIns="152393" bIns="152393"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r>
              <a:rPr lang="en-US" sz="2400" dirty="0">
                <a:solidFill>
                  <a:srgbClr val="000000"/>
                </a:solidFill>
                <a:latin typeface="Times New Roman"/>
                <a:cs typeface="Times New Roman"/>
              </a:rPr>
              <a:t>In Java, recursion is often simple &amp; readable in comparison with iteration, but recursion's repeated opening of stack frames can lead to lengthy wait times or overflows. It is commonly agreed upon that recursion is most viable when input sizes are kept small. To truly test recursion and iteration against each other, we wrote a few different algorithms, each of them recursively </a:t>
            </a:r>
            <a:r>
              <a:rPr lang="en-US" sz="2400" i="1" dirty="0">
                <a:solidFill>
                  <a:srgbClr val="000000"/>
                </a:solidFill>
                <a:latin typeface="Times New Roman"/>
                <a:cs typeface="Times New Roman"/>
              </a:rPr>
              <a:t>and </a:t>
            </a:r>
            <a:r>
              <a:rPr lang="en-US" sz="2400" dirty="0">
                <a:solidFill>
                  <a:srgbClr val="000000"/>
                </a:solidFill>
                <a:latin typeface="Times New Roman"/>
                <a:cs typeface="Times New Roman"/>
              </a:rPr>
              <a:t>iteratively, and checked to see when recursion became inefficient or failed altogether when compared to iteration.</a:t>
            </a:r>
          </a:p>
        </p:txBody>
      </p:sp>
      <p:sp>
        <p:nvSpPr>
          <p:cNvPr id="3" name="Text Placeholder 2">
            <a:extLst>
              <a:ext uri="{FF2B5EF4-FFF2-40B4-BE49-F238E27FC236}">
                <a16:creationId xmlns:a16="http://schemas.microsoft.com/office/drawing/2014/main" id="{BB9651DF-245B-DE47-A8E1-DE4F451C0B9E}"/>
              </a:ext>
            </a:extLst>
          </p:cNvPr>
          <p:cNvSpPr>
            <a:spLocks noGrp="1"/>
          </p:cNvSpPr>
          <p:nvPr>
            <p:ph type="body" sz="quarter" idx="11"/>
          </p:nvPr>
        </p:nvSpPr>
        <p:spPr>
          <a:xfrm>
            <a:off x="3456" y="2616316"/>
            <a:ext cx="9045045" cy="1595416"/>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INTRODUCTION &amp; MOTIVATION</a:t>
            </a:r>
          </a:p>
        </p:txBody>
      </p:sp>
      <p:sp>
        <p:nvSpPr>
          <p:cNvPr id="4" name="Text Placeholder 3">
            <a:extLst>
              <a:ext uri="{FF2B5EF4-FFF2-40B4-BE49-F238E27FC236}">
                <a16:creationId xmlns:a16="http://schemas.microsoft.com/office/drawing/2014/main" id="{B3A75B69-B887-494F-8354-19A97A084D60}"/>
              </a:ext>
            </a:extLst>
          </p:cNvPr>
          <p:cNvSpPr>
            <a:spLocks noGrp="1"/>
          </p:cNvSpPr>
          <p:nvPr>
            <p:ph type="body" sz="quarter" idx="20"/>
          </p:nvPr>
        </p:nvSpPr>
        <p:spPr>
          <a:xfrm>
            <a:off x="150238" y="7360469"/>
            <a:ext cx="7537847" cy="923322"/>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LITERATURE REVIEW</a:t>
            </a:r>
          </a:p>
        </p:txBody>
      </p:sp>
      <p:sp>
        <p:nvSpPr>
          <p:cNvPr id="5" name="Text Placeholder 4">
            <a:extLst>
              <a:ext uri="{FF2B5EF4-FFF2-40B4-BE49-F238E27FC236}">
                <a16:creationId xmlns:a16="http://schemas.microsoft.com/office/drawing/2014/main" id="{734D45A7-2E10-C448-9D0E-72B47E945C7F}"/>
              </a:ext>
            </a:extLst>
          </p:cNvPr>
          <p:cNvSpPr>
            <a:spLocks noGrp="1"/>
          </p:cNvSpPr>
          <p:nvPr>
            <p:ph type="body" sz="quarter" idx="21"/>
          </p:nvPr>
        </p:nvSpPr>
        <p:spPr>
          <a:xfrm>
            <a:off x="9047446" y="3936410"/>
            <a:ext cx="6699249" cy="6063184"/>
          </a:xfrm>
        </p:spPr>
        <p:txBody>
          <a:bodyPr wrap="square" lIns="152393" tIns="152393" rIns="152393" bIns="152393"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r>
              <a:rPr lang="en-US" sz="2200" dirty="0">
                <a:latin typeface="Times New Roman"/>
                <a:cs typeface="Times New Roman"/>
              </a:rPr>
              <a:t>In this project, we implemented four programs, each with both recursive and iterative versions.  Fibonacci sequence, factorial, binary search, and fast exponentiation.  Each program was designed to ensure a fair comparison between recursive and iterative. The experiments were carried out using the input sizes of 5,000, 10,000, 30,000, 50,000, 70,000, and 100,000, along with a much larger size for binary search. Furthermore, the Fibonacci sequence was also given supplementary, smaller values to test, due to its trouble in testing such large values. When executed, time was measured using </a:t>
            </a:r>
            <a:r>
              <a:rPr lang="en-US" sz="2200" dirty="0" err="1">
                <a:latin typeface="Times New Roman"/>
                <a:cs typeface="Times New Roman"/>
              </a:rPr>
              <a:t>System.nanoTime</a:t>
            </a:r>
            <a:r>
              <a:rPr lang="en-US" sz="2200" dirty="0">
                <a:latin typeface="Times New Roman"/>
                <a:cs typeface="Times New Roman"/>
              </a:rPr>
              <a:t>(). Each program was repeated 10 times to calculate the average runtime, reducing random fluctuations and improving accuracy. The program also includes exception handling to detect </a:t>
            </a:r>
            <a:r>
              <a:rPr lang="en-US" sz="2200" dirty="0" err="1">
                <a:latin typeface="Times New Roman"/>
                <a:cs typeface="Times New Roman"/>
              </a:rPr>
              <a:t>StackOverflowError</a:t>
            </a:r>
            <a:r>
              <a:rPr lang="en-US" sz="2200" dirty="0">
                <a:latin typeface="Times New Roman"/>
                <a:cs typeface="Times New Roman"/>
              </a:rPr>
              <a:t>, allowing identification of the recursion cliff for each recursive implementation.</a:t>
            </a:r>
            <a:endParaRPr lang="en-US" sz="2200">
              <a:ea typeface="Calibri"/>
              <a:cs typeface="Calibri"/>
            </a:endParaRPr>
          </a:p>
        </p:txBody>
      </p:sp>
      <p:sp>
        <p:nvSpPr>
          <p:cNvPr id="6" name="Text Placeholder 5">
            <a:extLst>
              <a:ext uri="{FF2B5EF4-FFF2-40B4-BE49-F238E27FC236}">
                <a16:creationId xmlns:a16="http://schemas.microsoft.com/office/drawing/2014/main" id="{8AFEEE7D-41C4-3B45-BFE6-D61F77CAFF9F}"/>
              </a:ext>
            </a:extLst>
          </p:cNvPr>
          <p:cNvSpPr>
            <a:spLocks noGrp="1"/>
          </p:cNvSpPr>
          <p:nvPr>
            <p:ph type="body" sz="quarter" idx="22"/>
          </p:nvPr>
        </p:nvSpPr>
        <p:spPr>
          <a:xfrm>
            <a:off x="8508806" y="2943041"/>
            <a:ext cx="7536656" cy="923322"/>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METHODOLOGY</a:t>
            </a:r>
            <a:endParaRPr lang="en-US" sz="4800"/>
          </a:p>
        </p:txBody>
      </p:sp>
      <p:sp>
        <p:nvSpPr>
          <p:cNvPr id="8" name="Text Placeholder 7">
            <a:extLst>
              <a:ext uri="{FF2B5EF4-FFF2-40B4-BE49-F238E27FC236}">
                <a16:creationId xmlns:a16="http://schemas.microsoft.com/office/drawing/2014/main" id="{BDBE325A-33E3-B441-A039-0C963F23F3C2}"/>
              </a:ext>
            </a:extLst>
          </p:cNvPr>
          <p:cNvSpPr>
            <a:spLocks noGrp="1"/>
          </p:cNvSpPr>
          <p:nvPr>
            <p:ph type="body" sz="quarter" idx="24"/>
          </p:nvPr>
        </p:nvSpPr>
        <p:spPr>
          <a:xfrm>
            <a:off x="16336312" y="2608525"/>
            <a:ext cx="8231447" cy="1595418"/>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RESULTS OF DATA COLLECTED</a:t>
            </a:r>
          </a:p>
        </p:txBody>
      </p:sp>
      <p:sp>
        <p:nvSpPr>
          <p:cNvPr id="9" name="Text Placeholder 8">
            <a:extLst>
              <a:ext uri="{FF2B5EF4-FFF2-40B4-BE49-F238E27FC236}">
                <a16:creationId xmlns:a16="http://schemas.microsoft.com/office/drawing/2014/main" id="{027FBB48-301F-E54B-9C0F-B0AF4F8F13C3}"/>
              </a:ext>
            </a:extLst>
          </p:cNvPr>
          <p:cNvSpPr>
            <a:spLocks noGrp="1"/>
          </p:cNvSpPr>
          <p:nvPr>
            <p:ph type="body" sz="quarter" idx="25"/>
          </p:nvPr>
        </p:nvSpPr>
        <p:spPr>
          <a:xfrm>
            <a:off x="25122424" y="2971025"/>
            <a:ext cx="7535264" cy="923322"/>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KEY CONCLUSIONS</a:t>
            </a:r>
          </a:p>
        </p:txBody>
      </p:sp>
      <p:sp>
        <p:nvSpPr>
          <p:cNvPr id="10" name="Text Placeholder 9">
            <a:extLst>
              <a:ext uri="{FF2B5EF4-FFF2-40B4-BE49-F238E27FC236}">
                <a16:creationId xmlns:a16="http://schemas.microsoft.com/office/drawing/2014/main" id="{A84428BB-306F-7648-8365-865D8442AB50}"/>
              </a:ext>
            </a:extLst>
          </p:cNvPr>
          <p:cNvSpPr>
            <a:spLocks noGrp="1"/>
          </p:cNvSpPr>
          <p:nvPr>
            <p:ph type="body" sz="quarter" idx="26"/>
          </p:nvPr>
        </p:nvSpPr>
        <p:spPr>
          <a:xfrm>
            <a:off x="25206981" y="3944464"/>
            <a:ext cx="7548097" cy="8799310"/>
          </a:xfrm>
        </p:spPr>
        <p:txBody>
          <a:bodyPr wrap="square" lIns="228589" tIns="228589" rIns="228589" bIns="228589"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marL="342900" indent="-342900">
              <a:buChar char="•"/>
            </a:pPr>
            <a:r>
              <a:rPr lang="en-US" sz="2100" dirty="0">
                <a:ea typeface="Calibri"/>
                <a:cs typeface="Calibri"/>
              </a:rPr>
              <a:t>Iteration proved to be a more dependable method in cases of large input sizes and when computation depth cannot be easily controlled or predicted. </a:t>
            </a:r>
          </a:p>
          <a:p>
            <a:pPr marL="342900" indent="-342900">
              <a:buChar char="•"/>
            </a:pPr>
            <a:r>
              <a:rPr lang="en-US" sz="2100" dirty="0">
                <a:ea typeface="Calibri"/>
                <a:cs typeface="Calibri"/>
              </a:rPr>
              <a:t>While recursion may be favored for problems that require being sectioned into smaller components, the results show that its performance significantly declines when repeated calls accumulate on the JVM call stack, i.e. in the Factorial and Fibonacci tests where recursion slowed significantly or failed to compile altogether with a </a:t>
            </a:r>
            <a:r>
              <a:rPr lang="en-US" sz="2100" dirty="0" err="1">
                <a:ea typeface="Calibri"/>
                <a:cs typeface="Calibri"/>
              </a:rPr>
              <a:t>StackOverflowError</a:t>
            </a:r>
            <a:r>
              <a:rPr lang="en-US" sz="2100" dirty="0">
                <a:ea typeface="Calibri"/>
                <a:cs typeface="Calibri"/>
              </a:rPr>
              <a:t>. </a:t>
            </a:r>
          </a:p>
          <a:p>
            <a:pPr marL="342900" indent="-342900">
              <a:buChar char="•"/>
            </a:pPr>
            <a:r>
              <a:rPr lang="en-US" sz="2100" dirty="0">
                <a:ea typeface="Calibri"/>
                <a:cs typeface="Calibri"/>
              </a:rPr>
              <a:t>Contrarily, iteration maintained steady runtimes in all four algorithms that were tested, even completing the largest input values without stack overflows or slow performance. </a:t>
            </a:r>
          </a:p>
          <a:p>
            <a:pPr marL="342900" indent="-342900">
              <a:buChar char="•"/>
            </a:pPr>
            <a:r>
              <a:rPr lang="en-US" sz="2100" dirty="0">
                <a:ea typeface="Calibri"/>
                <a:cs typeface="Calibri"/>
              </a:rPr>
              <a:t>Exceptionally, the binary search algorithm proved that recursion was a successful and reliable method in cases where the depth is limited in some way or inside of the algorithm itself. </a:t>
            </a:r>
          </a:p>
          <a:p>
            <a:pPr marL="342900" indent="-342900">
              <a:buChar char="•"/>
            </a:pPr>
            <a:r>
              <a:rPr lang="en-US" sz="2100" dirty="0">
                <a:ea typeface="Calibri"/>
                <a:cs typeface="Calibri"/>
              </a:rPr>
              <a:t>Ultimately, developers should prioritize recursion in cases where the problem requires a structure with clear, established boundaries, but should favor iteration when input sizes are large and when memory usage must be controlled. A developer can determine whether to use recursion vs. iteration based on the input size, structure and depth of the algorithm, and JVM behavior for repeated calls during execution.</a:t>
            </a:r>
          </a:p>
        </p:txBody>
      </p:sp>
      <p:sp>
        <p:nvSpPr>
          <p:cNvPr id="11" name="Text Placeholder 10">
            <a:extLst>
              <a:ext uri="{FF2B5EF4-FFF2-40B4-BE49-F238E27FC236}">
                <a16:creationId xmlns:a16="http://schemas.microsoft.com/office/drawing/2014/main" id="{38D54E99-CD09-EA42-AB77-4AB0DEE80F55}"/>
              </a:ext>
            </a:extLst>
          </p:cNvPr>
          <p:cNvSpPr>
            <a:spLocks noGrp="1"/>
          </p:cNvSpPr>
          <p:nvPr>
            <p:ph type="body" sz="quarter" idx="27"/>
          </p:nvPr>
        </p:nvSpPr>
        <p:spPr>
          <a:xfrm>
            <a:off x="25122425" y="12790884"/>
            <a:ext cx="7535264" cy="923322"/>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REFERENCES</a:t>
            </a:r>
          </a:p>
        </p:txBody>
      </p:sp>
      <p:sp>
        <p:nvSpPr>
          <p:cNvPr id="12" name="Text Placeholder 11">
            <a:extLst>
              <a:ext uri="{FF2B5EF4-FFF2-40B4-BE49-F238E27FC236}">
                <a16:creationId xmlns:a16="http://schemas.microsoft.com/office/drawing/2014/main" id="{D11F3E96-6F91-E14D-AC57-F39AA9727DD5}"/>
              </a:ext>
            </a:extLst>
          </p:cNvPr>
          <p:cNvSpPr>
            <a:spLocks noGrp="1"/>
          </p:cNvSpPr>
          <p:nvPr>
            <p:ph type="body" sz="quarter" idx="28"/>
          </p:nvPr>
        </p:nvSpPr>
        <p:spPr>
          <a:xfrm>
            <a:off x="25196611" y="13579835"/>
            <a:ext cx="7358937" cy="4518146"/>
          </a:xfrm>
        </p:spPr>
        <p:txBody>
          <a:bodyPr wrap="square" lIns="152393" tIns="152393" rIns="152393" bIns="152393"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spcBef>
                <a:spcPts val="13"/>
              </a:spcBef>
            </a:pPr>
            <a:r>
              <a:rPr lang="en-US" sz="2400">
                <a:latin typeface="Times New Roman"/>
                <a:cs typeface="Times New Roman"/>
              </a:rPr>
              <a:t>Kavya. (2026, February 14). We Measured Recursion vs Iteration in Java. The Results Surprised Us. Medium. https://medium.com/@kotiavula6/we-measured-recursion-vs-iteration-in-java-the-results-surprised-us-81dce2166c65 </a:t>
            </a:r>
          </a:p>
          <a:p>
            <a:endParaRPr lang="en-US" sz="2400">
              <a:ea typeface="Calibri"/>
              <a:cs typeface="Calibri"/>
            </a:endParaRPr>
          </a:p>
          <a:p>
            <a:pPr>
              <a:spcBef>
                <a:spcPts val="13"/>
              </a:spcBef>
            </a:pPr>
            <a:r>
              <a:rPr lang="en-US" sz="2400">
                <a:latin typeface="Times New Roman"/>
                <a:cs typeface="Times New Roman"/>
              </a:rPr>
              <a:t>Massachusetts Institute of Technology. (2022). Recursion and Iteration. Web MIT. https://web.mit.edu/6.102/www/sp23/classes/11-recursive-data-types/recursion-and-iteration-review.html </a:t>
            </a:r>
          </a:p>
          <a:p>
            <a:endParaRPr lang="en-US" sz="2400">
              <a:ea typeface="Calibri"/>
              <a:cs typeface="Calibri"/>
            </a:endParaRPr>
          </a:p>
        </p:txBody>
      </p:sp>
      <p:sp>
        <p:nvSpPr>
          <p:cNvPr id="13" name="Text Placeholder 12">
            <a:extLst>
              <a:ext uri="{FF2B5EF4-FFF2-40B4-BE49-F238E27FC236}">
                <a16:creationId xmlns:a16="http://schemas.microsoft.com/office/drawing/2014/main" id="{43E79531-0049-6141-B5CA-58A1EF687D2C}"/>
              </a:ext>
            </a:extLst>
          </p:cNvPr>
          <p:cNvSpPr>
            <a:spLocks noGrp="1"/>
          </p:cNvSpPr>
          <p:nvPr>
            <p:ph type="body" sz="quarter" idx="29"/>
          </p:nvPr>
        </p:nvSpPr>
        <p:spPr>
          <a:xfrm>
            <a:off x="25022793" y="17768570"/>
            <a:ext cx="7535264" cy="923322"/>
          </a:xfrm>
        </p:spPr>
        <p:txBody>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sz="4800">
                <a:ea typeface="Calibri"/>
                <a:cs typeface="Calibri"/>
              </a:rPr>
              <a:t>ACKNOWLEDGEMENTS</a:t>
            </a:r>
          </a:p>
        </p:txBody>
      </p:sp>
      <p:sp>
        <p:nvSpPr>
          <p:cNvPr id="14" name="Text Placeholder 13">
            <a:extLst>
              <a:ext uri="{FF2B5EF4-FFF2-40B4-BE49-F238E27FC236}">
                <a16:creationId xmlns:a16="http://schemas.microsoft.com/office/drawing/2014/main" id="{D746C96D-B21A-EA44-A733-07A4BF375FD4}"/>
              </a:ext>
            </a:extLst>
          </p:cNvPr>
          <p:cNvSpPr>
            <a:spLocks noGrp="1"/>
          </p:cNvSpPr>
          <p:nvPr>
            <p:ph type="body" sz="quarter" idx="30"/>
          </p:nvPr>
        </p:nvSpPr>
        <p:spPr>
          <a:xfrm>
            <a:off x="25061804" y="18698647"/>
            <a:ext cx="7500027" cy="1569638"/>
          </a:xfrm>
        </p:spPr>
        <p:txBody>
          <a:bodyPr wrap="square" lIns="228589" tIns="228589" rIns="228589" bIns="228589"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r>
              <a:rPr lang="en-US" sz="2400">
                <a:latin typeface="Times New Roman"/>
                <a:ea typeface="Calibri"/>
                <a:cs typeface="Times New Roman"/>
              </a:rPr>
              <a:t>Many thanks to Dr. </a:t>
            </a:r>
            <a:r>
              <a:rPr lang="en-US" sz="2400" err="1">
                <a:latin typeface="Times New Roman"/>
                <a:ea typeface="Calibri"/>
                <a:cs typeface="Times New Roman"/>
              </a:rPr>
              <a:t>Mudduluru</a:t>
            </a:r>
            <a:r>
              <a:rPr lang="en-US" sz="2400">
                <a:latin typeface="Times New Roman"/>
                <a:ea typeface="Calibri"/>
                <a:cs typeface="Times New Roman"/>
              </a:rPr>
              <a:t> and research assistant Vishnu Kadiyala for providing guidelines, assistance, and help with the project and its requirements.</a:t>
            </a:r>
          </a:p>
        </p:txBody>
      </p:sp>
      <p:sp>
        <p:nvSpPr>
          <p:cNvPr id="15" name="Text Placeholder 14">
            <a:extLst>
              <a:ext uri="{FF2B5EF4-FFF2-40B4-BE49-F238E27FC236}">
                <a16:creationId xmlns:a16="http://schemas.microsoft.com/office/drawing/2014/main" id="{E88D1D93-1749-134C-B259-6CB1F13ABE6B}"/>
              </a:ext>
            </a:extLst>
          </p:cNvPr>
          <p:cNvSpPr>
            <a:spLocks noGrp="1"/>
          </p:cNvSpPr>
          <p:nvPr>
            <p:ph type="body" sz="quarter" idx="96"/>
          </p:nvPr>
        </p:nvSpPr>
        <p:spPr>
          <a:xfrm>
            <a:off x="351944" y="8265710"/>
            <a:ext cx="7122994" cy="11941716"/>
          </a:xfrm>
        </p:spPr>
        <p:txBody>
          <a:bodyPr wrap="square" lIns="152393" tIns="152393" rIns="152393" bIns="152393"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marL="342900" indent="-342900">
              <a:buChar char="•"/>
            </a:pPr>
            <a:r>
              <a:rPr lang="en-US" sz="2100">
                <a:latin typeface="Times New Roman"/>
                <a:cs typeface="Times New Roman"/>
              </a:rPr>
              <a:t>The MIT </a:t>
            </a:r>
            <a:r>
              <a:rPr lang="en-US" sz="2100" i="1" dirty="0">
                <a:latin typeface="Times New Roman"/>
                <a:cs typeface="Times New Roman"/>
              </a:rPr>
              <a:t>Recursion and Iteration </a:t>
            </a:r>
            <a:r>
              <a:rPr lang="en-US" sz="2100" dirty="0">
                <a:latin typeface="Times New Roman"/>
                <a:cs typeface="Times New Roman"/>
              </a:rPr>
              <a:t>article explains that both techniques produce patterned and step-by-step evaluation, while recursion does this by repeatedly calling the same </a:t>
            </a:r>
            <a:r>
              <a:rPr lang="en-US" sz="2100" err="1">
                <a:latin typeface="Times New Roman"/>
                <a:cs typeface="Times New Roman"/>
              </a:rPr>
              <a:t>func</a:t>
            </a:r>
            <a:r>
              <a:rPr lang="en-US" sz="2100" dirty="0">
                <a:latin typeface="Times New Roman"/>
                <a:cs typeface="Times New Roman"/>
              </a:rPr>
              <a:t>tion and making a chain of stack frames, contrarily to iteration that uses loops that recycle a single frame, naturally avoiding accumulating overhead. </a:t>
            </a:r>
            <a:endParaRPr lang="en-US" sz="2100">
              <a:latin typeface="Times New Roman"/>
              <a:ea typeface="Calibri"/>
              <a:cs typeface="Times New Roman"/>
            </a:endParaRPr>
          </a:p>
          <a:p>
            <a:pPr marL="285750" indent="-285750">
              <a:buChar char="•"/>
            </a:pPr>
            <a:r>
              <a:rPr lang="en-US" sz="2100" dirty="0">
                <a:latin typeface="Times New Roman"/>
                <a:cs typeface="Times New Roman"/>
              </a:rPr>
              <a:t>This distinction is especially evident as the depth of recursion increases, as each additional call must store parameters, local variables, and return information on the JVM call stack; creates </a:t>
            </a:r>
            <a:r>
              <a:rPr lang="en-US" sz="2100">
                <a:latin typeface="Times New Roman"/>
                <a:cs typeface="Times New Roman"/>
              </a:rPr>
              <a:t>a structure often considered intuitive for list, tree, or graph-like problems, but can become problematic if the input is too large</a:t>
            </a:r>
            <a:r>
              <a:rPr lang="en-US" sz="2100" dirty="0">
                <a:latin typeface="Times New Roman"/>
                <a:cs typeface="Times New Roman"/>
              </a:rPr>
              <a:t> (Massachusetts Institute of Technology, 2022). </a:t>
            </a:r>
            <a:endParaRPr lang="en-US" sz="2100">
              <a:latin typeface="Times New Roman"/>
              <a:ea typeface="Calibri"/>
              <a:cs typeface="Times New Roman"/>
            </a:endParaRPr>
          </a:p>
          <a:p>
            <a:pPr marL="285750" indent="-285750">
              <a:buChar char="•"/>
            </a:pPr>
            <a:r>
              <a:rPr lang="en-US" sz="2100" dirty="0">
                <a:latin typeface="Times New Roman"/>
                <a:cs typeface="Times New Roman"/>
              </a:rPr>
              <a:t>The research study detailed in the article: </a:t>
            </a:r>
            <a:r>
              <a:rPr lang="en-US" sz="2100" i="1" dirty="0">
                <a:latin typeface="Times New Roman"/>
                <a:cs typeface="Times New Roman"/>
              </a:rPr>
              <a:t>We Measured Recursion vs. Iteration in Java: The Results Surprised Us. </a:t>
            </a:r>
            <a:r>
              <a:rPr lang="en-US" sz="2100" dirty="0">
                <a:latin typeface="Times New Roman"/>
                <a:cs typeface="Times New Roman"/>
              </a:rPr>
              <a:t>by an experienced Full-Stack Developer demonstrates these ideas through controlled experiments; it notes that while recursion can perform as well as iteration with a lower and more predictable depth, e.g. in Fibonacci and Factorial algorithms, the performance varies  as the input sizes or number of executions increase. </a:t>
            </a:r>
            <a:endParaRPr lang="en-US" sz="2100" dirty="0">
              <a:latin typeface="Times New Roman"/>
              <a:ea typeface="Calibri"/>
              <a:cs typeface="Times New Roman"/>
            </a:endParaRPr>
          </a:p>
          <a:p>
            <a:pPr marL="285750" indent="-285750">
              <a:buChar char="•"/>
            </a:pPr>
            <a:r>
              <a:rPr lang="en-US" sz="2100">
                <a:latin typeface="Times New Roman"/>
                <a:cs typeface="Times New Roman"/>
              </a:rPr>
              <a:t>This </a:t>
            </a:r>
            <a:r>
              <a:rPr lang="en-US" sz="2100" dirty="0">
                <a:latin typeface="Times New Roman"/>
                <a:cs typeface="Times New Roman"/>
              </a:rPr>
              <a:t>performance shift is not simply due to recursion being  "slow," </a:t>
            </a:r>
            <a:r>
              <a:rPr lang="en-US" sz="2100">
                <a:latin typeface="Times New Roman"/>
                <a:cs typeface="Times New Roman"/>
              </a:rPr>
              <a:t>but rather because the JVM must follow the structure it is given.</a:t>
            </a:r>
            <a:endParaRPr lang="en-US" sz="2100">
              <a:latin typeface="Times New Roman"/>
              <a:ea typeface="Calibri"/>
              <a:cs typeface="Times New Roman"/>
            </a:endParaRPr>
          </a:p>
          <a:p>
            <a:pPr marL="285750" indent="-285750">
              <a:buChar char="•"/>
            </a:pPr>
            <a:r>
              <a:rPr lang="en-US" sz="2100">
                <a:latin typeface="Times New Roman"/>
                <a:cs typeface="Times New Roman"/>
              </a:rPr>
              <a:t>Concludes that recursion becomes less practical when depth is dependent on factors like external input and when call chains rapidly increase, while iteration has strengths in predictable </a:t>
            </a:r>
            <a:r>
              <a:rPr lang="en-US" sz="2100" err="1">
                <a:latin typeface="Times New Roman"/>
                <a:cs typeface="Times New Roman"/>
              </a:rPr>
              <a:t>contro</a:t>
            </a:r>
            <a:r>
              <a:rPr lang="en-US" sz="2100" dirty="0">
                <a:latin typeface="Times New Roman"/>
                <a:cs typeface="Times New Roman"/>
              </a:rPr>
              <a:t>l of memory and stack behavior (Kavya, 2026). </a:t>
            </a:r>
            <a:endParaRPr lang="en-US" sz="2100">
              <a:latin typeface="Times New Roman"/>
              <a:ea typeface="Calibri"/>
              <a:cs typeface="Times New Roman"/>
            </a:endParaRPr>
          </a:p>
          <a:p>
            <a:pPr marL="285750" indent="-285750">
              <a:buChar char="•"/>
            </a:pPr>
            <a:r>
              <a:rPr lang="en-US" sz="2100" dirty="0">
                <a:latin typeface="Times New Roman"/>
                <a:cs typeface="Times New Roman"/>
              </a:rPr>
              <a:t>Similar to our own findings in this research, both sources reveal that determining the most effective and relevant choice between recursion and iteration should not be based on personal preference, but rather on input sizes, complexity of the algorithm, and practical constrains of the JVM (Kavya, 2026; Massachusetts Institute of Technology, 2022).</a:t>
            </a:r>
            <a:endParaRPr lang="en-US" sz="2100">
              <a:latin typeface="Times New Roman"/>
              <a:ea typeface="Calibri"/>
              <a:cs typeface="Times New Roman"/>
            </a:endParaRPr>
          </a:p>
        </p:txBody>
      </p:sp>
      <p:sp>
        <p:nvSpPr>
          <p:cNvPr id="17" name="Text Placeholder 16">
            <a:extLst>
              <a:ext uri="{FF2B5EF4-FFF2-40B4-BE49-F238E27FC236}">
                <a16:creationId xmlns:a16="http://schemas.microsoft.com/office/drawing/2014/main" id="{151933EC-B042-8942-9D9C-760FADF42540}"/>
              </a:ext>
            </a:extLst>
          </p:cNvPr>
          <p:cNvSpPr>
            <a:spLocks noGrp="1"/>
          </p:cNvSpPr>
          <p:nvPr>
            <p:ph type="body" sz="quarter" idx="151"/>
          </p:nvPr>
        </p:nvSpPr>
        <p:spPr>
          <a:xfrm>
            <a:off x="5066512" y="2104784"/>
            <a:ext cx="21332645" cy="853440"/>
          </a:xfrm>
        </p:spPr>
        <p:txBody>
          <a:bodyPr lIns="60960" tIns="30480" rIns="60960" bIns="30480" anchor="t" anchorCtr="1">
            <a:norm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lnSpc>
                <a:spcPct val="90000"/>
              </a:lnSpc>
            </a:pPr>
            <a:r>
              <a:rPr lang="en-US" sz="3200">
                <a:solidFill>
                  <a:srgbClr val="FFFFFF"/>
                </a:solidFill>
                <a:ea typeface="Calibri"/>
                <a:cs typeface="Calibri"/>
              </a:rPr>
              <a:t>Team 14: Amanda Thorpe, Lauren (Kate) Tucker, Jude Wilson, Daniel Vo</a:t>
            </a:r>
            <a:endParaRPr lang="en-US"/>
          </a:p>
          <a:p>
            <a:pPr algn="ctr"/>
            <a:endParaRPr lang="en-US" sz="3200">
              <a:solidFill>
                <a:srgbClr val="FFFFFF"/>
              </a:solidFill>
              <a:ea typeface="Calibri"/>
              <a:cs typeface="Calibri"/>
            </a:endParaRPr>
          </a:p>
        </p:txBody>
      </p:sp>
      <p:sp>
        <p:nvSpPr>
          <p:cNvPr id="18" name="Text Placeholder 17">
            <a:extLst>
              <a:ext uri="{FF2B5EF4-FFF2-40B4-BE49-F238E27FC236}">
                <a16:creationId xmlns:a16="http://schemas.microsoft.com/office/drawing/2014/main" id="{4D173F97-16EA-804F-A097-81BA0AA49E2D}"/>
              </a:ext>
            </a:extLst>
          </p:cNvPr>
          <p:cNvSpPr>
            <a:spLocks noGrp="1"/>
          </p:cNvSpPr>
          <p:nvPr>
            <p:ph type="body" sz="quarter" idx="153"/>
          </p:nvPr>
        </p:nvSpPr>
        <p:spPr>
          <a:xfrm>
            <a:off x="5645700" y="449502"/>
            <a:ext cx="21643368" cy="1658559"/>
          </a:xfrm>
        </p:spPr>
        <p:txBody>
          <a:bodyPr lIns="60960" tIns="30480" rIns="60960" bIns="30480" anchor="t" anchorCtr="1">
            <a:normAutofit fontScale="85000" lnSpcReduction="10000"/>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algn="ctr"/>
            <a:r>
              <a:rPr lang="en-US">
                <a:solidFill>
                  <a:srgbClr val="FFFFFF"/>
                </a:solidFill>
                <a:ea typeface="Calibri"/>
                <a:cs typeface="Calibri"/>
              </a:rPr>
              <a:t>Recursion vs. Iteration: At What Input Size Does The Overhead of Recursion Make an Iterative Approach Significantly More Efficient In Practice?</a:t>
            </a:r>
            <a:endParaRPr lang="en-US"/>
          </a:p>
        </p:txBody>
      </p:sp>
      <p:sp>
        <p:nvSpPr>
          <p:cNvPr id="7" name="Text Placeholder 6">
            <a:extLst>
              <a:ext uri="{FF2B5EF4-FFF2-40B4-BE49-F238E27FC236}">
                <a16:creationId xmlns:a16="http://schemas.microsoft.com/office/drawing/2014/main" id="{AFF5B475-9F52-1146-91E8-20386B9076AF}"/>
              </a:ext>
            </a:extLst>
          </p:cNvPr>
          <p:cNvSpPr>
            <a:spLocks noGrp="1"/>
          </p:cNvSpPr>
          <p:nvPr>
            <p:ph type="body" sz="quarter" idx="23"/>
          </p:nvPr>
        </p:nvSpPr>
        <p:spPr>
          <a:xfrm>
            <a:off x="16095779" y="3878191"/>
            <a:ext cx="8982257" cy="6551514"/>
          </a:xfrm>
        </p:spPr>
        <p:txBody>
          <a:bodyPr wrap="square" lIns="228589" tIns="228589" rIns="228589" bIns="228589" anchor="t">
            <a:spAutoFit/>
          </a:bodyPr>
          <a:lstStyle>
            <a:defPPr>
              <a:defRPr lang="en-US"/>
            </a:defPPr>
            <a:lvl1pPr marL="0" algn="l" defTabSz="3134552" rtl="0" eaLnBrk="1" latinLnBrk="0" hangingPunct="1">
              <a:defRPr sz="6142" kern="1200">
                <a:solidFill>
                  <a:schemeClr val="tx1"/>
                </a:solidFill>
                <a:latin typeface="+mn-lt"/>
                <a:ea typeface="+mn-ea"/>
                <a:cs typeface="+mn-cs"/>
              </a:defRPr>
            </a:lvl1pPr>
            <a:lvl2pPr marL="1567277" algn="l" defTabSz="3134552" rtl="0" eaLnBrk="1" latinLnBrk="0" hangingPunct="1">
              <a:defRPr sz="6142" kern="1200">
                <a:solidFill>
                  <a:schemeClr val="tx1"/>
                </a:solidFill>
                <a:latin typeface="+mn-lt"/>
                <a:ea typeface="+mn-ea"/>
                <a:cs typeface="+mn-cs"/>
              </a:defRPr>
            </a:lvl2pPr>
            <a:lvl3pPr marL="3134552" algn="l" defTabSz="3134552" rtl="0" eaLnBrk="1" latinLnBrk="0" hangingPunct="1">
              <a:defRPr sz="6142" kern="1200">
                <a:solidFill>
                  <a:schemeClr val="tx1"/>
                </a:solidFill>
                <a:latin typeface="+mn-lt"/>
                <a:ea typeface="+mn-ea"/>
                <a:cs typeface="+mn-cs"/>
              </a:defRPr>
            </a:lvl3pPr>
            <a:lvl4pPr marL="4701829" algn="l" defTabSz="3134552" rtl="0" eaLnBrk="1" latinLnBrk="0" hangingPunct="1">
              <a:defRPr sz="6142" kern="1200">
                <a:solidFill>
                  <a:schemeClr val="tx1"/>
                </a:solidFill>
                <a:latin typeface="+mn-lt"/>
                <a:ea typeface="+mn-ea"/>
                <a:cs typeface="+mn-cs"/>
              </a:defRPr>
            </a:lvl4pPr>
            <a:lvl5pPr marL="6269105" algn="l" defTabSz="3134552" rtl="0" eaLnBrk="1" latinLnBrk="0" hangingPunct="1">
              <a:defRPr sz="6142" kern="1200">
                <a:solidFill>
                  <a:schemeClr val="tx1"/>
                </a:solidFill>
                <a:latin typeface="+mn-lt"/>
                <a:ea typeface="+mn-ea"/>
                <a:cs typeface="+mn-cs"/>
              </a:defRPr>
            </a:lvl5pPr>
            <a:lvl6pPr marL="7836382" algn="l" defTabSz="3134552" rtl="0" eaLnBrk="1" latinLnBrk="0" hangingPunct="1">
              <a:defRPr sz="6142" kern="1200">
                <a:solidFill>
                  <a:schemeClr val="tx1"/>
                </a:solidFill>
                <a:latin typeface="+mn-lt"/>
                <a:ea typeface="+mn-ea"/>
                <a:cs typeface="+mn-cs"/>
              </a:defRPr>
            </a:lvl6pPr>
            <a:lvl7pPr marL="9403659" algn="l" defTabSz="3134552" rtl="0" eaLnBrk="1" latinLnBrk="0" hangingPunct="1">
              <a:defRPr sz="6142" kern="1200">
                <a:solidFill>
                  <a:schemeClr val="tx1"/>
                </a:solidFill>
                <a:latin typeface="+mn-lt"/>
                <a:ea typeface="+mn-ea"/>
                <a:cs typeface="+mn-cs"/>
              </a:defRPr>
            </a:lvl7pPr>
            <a:lvl8pPr marL="10970935" algn="l" defTabSz="3134552" rtl="0" eaLnBrk="1" latinLnBrk="0" hangingPunct="1">
              <a:defRPr sz="6142" kern="1200">
                <a:solidFill>
                  <a:schemeClr val="tx1"/>
                </a:solidFill>
                <a:latin typeface="+mn-lt"/>
                <a:ea typeface="+mn-ea"/>
                <a:cs typeface="+mn-cs"/>
              </a:defRPr>
            </a:lvl8pPr>
            <a:lvl9pPr marL="12538212" algn="l" defTabSz="3134552" rtl="0" eaLnBrk="1" latinLnBrk="0" hangingPunct="1">
              <a:defRPr sz="6142" kern="1200">
                <a:solidFill>
                  <a:schemeClr val="tx1"/>
                </a:solidFill>
                <a:latin typeface="+mn-lt"/>
                <a:ea typeface="+mn-ea"/>
                <a:cs typeface="+mn-cs"/>
              </a:defRPr>
            </a:lvl9pPr>
          </a:lstStyle>
          <a:p>
            <a:pPr marL="342900" indent="-342900">
              <a:buChar char="•"/>
            </a:pPr>
            <a:r>
              <a:rPr lang="en-US" sz="2300">
                <a:latin typeface="Times New Roman"/>
                <a:ea typeface="Calibri"/>
                <a:cs typeface="Times New Roman"/>
              </a:rPr>
              <a:t>Fibonacci – When testing the original data set of 5k to 100k, none of the input values would ever finish, nor would they give a </a:t>
            </a:r>
            <a:r>
              <a:rPr lang="en-US" sz="2300" err="1">
                <a:latin typeface="Times New Roman"/>
                <a:ea typeface="Calibri"/>
                <a:cs typeface="Times New Roman"/>
              </a:rPr>
              <a:t>StackOverflow</a:t>
            </a:r>
            <a:r>
              <a:rPr lang="en-US" sz="2300">
                <a:latin typeface="Times New Roman"/>
                <a:ea typeface="Calibri"/>
                <a:cs typeface="Times New Roman"/>
              </a:rPr>
              <a:t>. Thus, extra smaller values were tested to build data and a chart; these input values yielded results where recursion got exponentially longer to finish, while iteration was always quick.</a:t>
            </a:r>
          </a:p>
          <a:p>
            <a:pPr marL="342900" indent="-342900">
              <a:buChar char="•"/>
            </a:pPr>
            <a:r>
              <a:rPr lang="en-US" sz="2300">
                <a:latin typeface="Times New Roman"/>
                <a:ea typeface="Calibri"/>
                <a:cs typeface="Times New Roman"/>
              </a:rPr>
              <a:t>Factorial – Recursion managed to finish the first two inputs of 5k and 10k, though at a slower pace than iteration. With all larger input values, recursion only ever gave a </a:t>
            </a:r>
            <a:r>
              <a:rPr lang="en-US" sz="2300" err="1">
                <a:latin typeface="Times New Roman"/>
                <a:ea typeface="Calibri"/>
                <a:cs typeface="Times New Roman"/>
              </a:rPr>
              <a:t>StackOverflow</a:t>
            </a:r>
            <a:r>
              <a:rPr lang="en-US" sz="2300">
                <a:latin typeface="Times New Roman"/>
                <a:ea typeface="Calibri"/>
                <a:cs typeface="Times New Roman"/>
              </a:rPr>
              <a:t> error, and never achieved an answer.</a:t>
            </a:r>
          </a:p>
          <a:p>
            <a:pPr marL="342900" indent="-342900">
              <a:buChar char="•"/>
            </a:pPr>
            <a:r>
              <a:rPr lang="en-US" sz="2300">
                <a:latin typeface="Times New Roman"/>
                <a:ea typeface="Calibri"/>
                <a:cs typeface="Times New Roman"/>
              </a:rPr>
              <a:t>Binary Search – Both iteratively and recursively, binary search was able to complete the input values very quickly. Recursion always stayed comparable to iteration in speed.</a:t>
            </a:r>
          </a:p>
          <a:p>
            <a:pPr marL="342900" indent="-342900">
              <a:buChar char="•"/>
            </a:pPr>
            <a:r>
              <a:rPr lang="en-US" sz="2300">
                <a:latin typeface="Times New Roman"/>
                <a:ea typeface="Calibri"/>
                <a:cs typeface="Times New Roman"/>
              </a:rPr>
              <a:t>Fast Exponentiation – Recursion was always slower than iteration, though it managed to get all input values done fairly quickly. Interestingly, recursion had an outlier on 10k, where it was noticeably at its slowest.</a:t>
            </a:r>
          </a:p>
        </p:txBody>
      </p:sp>
      <p:pic>
        <p:nvPicPr>
          <p:cNvPr id="16" name="Picture 15" descr="A graph showing a number of people&#10;&#10;AI-generated content may be incorrect.">
            <a:extLst>
              <a:ext uri="{FF2B5EF4-FFF2-40B4-BE49-F238E27FC236}">
                <a16:creationId xmlns:a16="http://schemas.microsoft.com/office/drawing/2014/main" id="{AAEBE1A3-CC99-656E-7D35-46D210D8DF8E}"/>
              </a:ext>
            </a:extLst>
          </p:cNvPr>
          <p:cNvPicPr>
            <a:picLocks noChangeAspect="1"/>
          </p:cNvPicPr>
          <p:nvPr/>
        </p:nvPicPr>
        <p:blipFill>
          <a:blip r:embed="rId2"/>
          <a:stretch>
            <a:fillRect/>
          </a:stretch>
        </p:blipFill>
        <p:spPr>
          <a:xfrm>
            <a:off x="7465438" y="10319079"/>
            <a:ext cx="8585550" cy="5172075"/>
          </a:xfrm>
          <a:prstGeom prst="rect">
            <a:avLst/>
          </a:prstGeom>
        </p:spPr>
      </p:pic>
      <p:pic>
        <p:nvPicPr>
          <p:cNvPr id="20" name="Picture 19" descr="A graph with blue and orange lines&#10;&#10;AI-generated content may be incorrect.">
            <a:extLst>
              <a:ext uri="{FF2B5EF4-FFF2-40B4-BE49-F238E27FC236}">
                <a16:creationId xmlns:a16="http://schemas.microsoft.com/office/drawing/2014/main" id="{BCE6AFCD-AF5A-D1AE-D705-BEF30AF21CB3}"/>
              </a:ext>
            </a:extLst>
          </p:cNvPr>
          <p:cNvPicPr>
            <a:picLocks noChangeAspect="1"/>
          </p:cNvPicPr>
          <p:nvPr/>
        </p:nvPicPr>
        <p:blipFill>
          <a:blip r:embed="rId3"/>
          <a:stretch>
            <a:fillRect/>
          </a:stretch>
        </p:blipFill>
        <p:spPr>
          <a:xfrm>
            <a:off x="7480165" y="15473812"/>
            <a:ext cx="8602073" cy="4846248"/>
          </a:xfrm>
          <a:prstGeom prst="rect">
            <a:avLst/>
          </a:prstGeom>
        </p:spPr>
      </p:pic>
      <p:pic>
        <p:nvPicPr>
          <p:cNvPr id="23" name="Picture 22" descr="A graph with a line and numbers&#10;&#10;AI-generated content may be incorrect.">
            <a:extLst>
              <a:ext uri="{FF2B5EF4-FFF2-40B4-BE49-F238E27FC236}">
                <a16:creationId xmlns:a16="http://schemas.microsoft.com/office/drawing/2014/main" id="{3AC633F8-CF61-BF74-4A69-1DD67BB65D6D}"/>
              </a:ext>
            </a:extLst>
          </p:cNvPr>
          <p:cNvPicPr>
            <a:picLocks noChangeAspect="1"/>
          </p:cNvPicPr>
          <p:nvPr/>
        </p:nvPicPr>
        <p:blipFill>
          <a:blip r:embed="rId4"/>
          <a:stretch>
            <a:fillRect/>
          </a:stretch>
        </p:blipFill>
        <p:spPr>
          <a:xfrm>
            <a:off x="16142580" y="15473812"/>
            <a:ext cx="8609974" cy="4846248"/>
          </a:xfrm>
          <a:prstGeom prst="rect">
            <a:avLst/>
          </a:prstGeom>
        </p:spPr>
      </p:pic>
      <p:pic>
        <p:nvPicPr>
          <p:cNvPr id="21" name="Picture 20" descr="A graph with numbers and lines&#10;&#10;AI-generated content may be incorrect.">
            <a:extLst>
              <a:ext uri="{FF2B5EF4-FFF2-40B4-BE49-F238E27FC236}">
                <a16:creationId xmlns:a16="http://schemas.microsoft.com/office/drawing/2014/main" id="{B8B098A4-0C0E-F789-5BC0-7B66ADAB9CBB}"/>
              </a:ext>
            </a:extLst>
          </p:cNvPr>
          <p:cNvPicPr>
            <a:picLocks noChangeAspect="1"/>
          </p:cNvPicPr>
          <p:nvPr/>
        </p:nvPicPr>
        <p:blipFill>
          <a:blip r:embed="rId5"/>
          <a:stretch>
            <a:fillRect/>
          </a:stretch>
        </p:blipFill>
        <p:spPr>
          <a:xfrm>
            <a:off x="16070384" y="10342802"/>
            <a:ext cx="8662417" cy="5216645"/>
          </a:xfrm>
          <a:prstGeom prst="rect">
            <a:avLst/>
          </a:prstGeom>
        </p:spPr>
      </p:pic>
    </p:spTree>
    <p:extLst>
      <p:ext uri="{BB962C8B-B14F-4D97-AF65-F5344CB8AC3E}">
        <p14:creationId xmlns:p14="http://schemas.microsoft.com/office/powerpoint/2010/main" val="3727187881"/>
      </p:ext>
    </p:extLst>
  </p:cSld>
  <p:clrMapOvr>
    <a:masterClrMapping/>
  </p:clrMapOvr>
</p:sld>
</file>

<file path=ppt/theme/theme1.xml><?xml version="1.0" encoding="utf-8"?>
<a:theme xmlns:a="http://schemas.openxmlformats.org/drawingml/2006/main" name="36x48-Templat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0</TotalTime>
  <Words>1089</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Wingdings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Kate Tucker</cp:lastModifiedBy>
  <cp:revision>149</cp:revision>
  <dcterms:created xsi:type="dcterms:W3CDTF">2012-02-03T19:11:35Z</dcterms:created>
  <dcterms:modified xsi:type="dcterms:W3CDTF">2026-05-01T22:29:29Z</dcterms:modified>
  <cp:category>Research poster templates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4b55ed7-9ba9-43e7-adc9-7a4ed6fd9b0e_Enabled">
    <vt:lpwstr>true</vt:lpwstr>
  </property>
  <property fmtid="{D5CDD505-2E9C-101B-9397-08002B2CF9AE}" pid="3" name="MSIP_Label_14b55ed7-9ba9-43e7-adc9-7a4ed6fd9b0e_SetDate">
    <vt:lpwstr>2026-04-22T02:10:19Z</vt:lpwstr>
  </property>
  <property fmtid="{D5CDD505-2E9C-101B-9397-08002B2CF9AE}" pid="4" name="MSIP_Label_14b55ed7-9ba9-43e7-adc9-7a4ed6fd9b0e_Method">
    <vt:lpwstr>Standard</vt:lpwstr>
  </property>
  <property fmtid="{D5CDD505-2E9C-101B-9397-08002B2CF9AE}" pid="5" name="MSIP_Label_14b55ed7-9ba9-43e7-adc9-7a4ed6fd9b0e_Name">
    <vt:lpwstr>UCO - Internal</vt:lpwstr>
  </property>
  <property fmtid="{D5CDD505-2E9C-101B-9397-08002B2CF9AE}" pid="6" name="MSIP_Label_14b55ed7-9ba9-43e7-adc9-7a4ed6fd9b0e_SiteId">
    <vt:lpwstr>51aa8f26-2e23-4b8c-bca8-7cc441adc4df</vt:lpwstr>
  </property>
  <property fmtid="{D5CDD505-2E9C-101B-9397-08002B2CF9AE}" pid="7" name="MSIP_Label_14b55ed7-9ba9-43e7-adc9-7a4ed6fd9b0e_ActionId">
    <vt:lpwstr>68684a8a-31d8-4584-ad01-d68c571d881e</vt:lpwstr>
  </property>
  <property fmtid="{D5CDD505-2E9C-101B-9397-08002B2CF9AE}" pid="8" name="MSIP_Label_14b55ed7-9ba9-43e7-adc9-7a4ed6fd9b0e_ContentBits">
    <vt:lpwstr>0</vt:lpwstr>
  </property>
  <property fmtid="{D5CDD505-2E9C-101B-9397-08002B2CF9AE}" pid="9" name="MSIP_Label_14b55ed7-9ba9-43e7-adc9-7a4ed6fd9b0e_Tag">
    <vt:lpwstr>10, 3, 0, 1</vt:lpwstr>
  </property>
</Properties>
</file>